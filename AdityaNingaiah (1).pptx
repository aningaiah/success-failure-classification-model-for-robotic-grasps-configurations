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sldIdLst>
    <p:sldId id="256" r:id="rId5"/>
  </p:sldIdLst>
  <p:sldSz cx="43891200" cy="32918400"/>
  <p:notesSz cx="6858000" cy="9144000"/>
  <p:defaultTextStyle>
    <a:defPPr>
      <a:defRPr lang="en-US"/>
    </a:defPPr>
    <a:lvl1pPr marL="0" algn="l" defTabSz="2194560" rtl="0" eaLnBrk="1" latinLnBrk="0" hangingPunct="1">
      <a:defRPr sz="8600" kern="1200">
        <a:solidFill>
          <a:schemeClr val="tx1"/>
        </a:solidFill>
        <a:latin typeface="+mn-lt"/>
        <a:ea typeface="+mn-ea"/>
        <a:cs typeface="+mn-cs"/>
      </a:defRPr>
    </a:lvl1pPr>
    <a:lvl2pPr marL="2194560" algn="l" defTabSz="2194560" rtl="0" eaLnBrk="1" latinLnBrk="0" hangingPunct="1">
      <a:defRPr sz="8600" kern="1200">
        <a:solidFill>
          <a:schemeClr val="tx1"/>
        </a:solidFill>
        <a:latin typeface="+mn-lt"/>
        <a:ea typeface="+mn-ea"/>
        <a:cs typeface="+mn-cs"/>
      </a:defRPr>
    </a:lvl2pPr>
    <a:lvl3pPr marL="4389120" algn="l" defTabSz="2194560" rtl="0" eaLnBrk="1" latinLnBrk="0" hangingPunct="1">
      <a:defRPr sz="8600" kern="1200">
        <a:solidFill>
          <a:schemeClr val="tx1"/>
        </a:solidFill>
        <a:latin typeface="+mn-lt"/>
        <a:ea typeface="+mn-ea"/>
        <a:cs typeface="+mn-cs"/>
      </a:defRPr>
    </a:lvl3pPr>
    <a:lvl4pPr marL="6583680" algn="l" defTabSz="2194560" rtl="0" eaLnBrk="1" latinLnBrk="0" hangingPunct="1">
      <a:defRPr sz="8600" kern="1200">
        <a:solidFill>
          <a:schemeClr val="tx1"/>
        </a:solidFill>
        <a:latin typeface="+mn-lt"/>
        <a:ea typeface="+mn-ea"/>
        <a:cs typeface="+mn-cs"/>
      </a:defRPr>
    </a:lvl4pPr>
    <a:lvl5pPr marL="8778240" algn="l" defTabSz="2194560" rtl="0" eaLnBrk="1" latinLnBrk="0" hangingPunct="1">
      <a:defRPr sz="8600" kern="1200">
        <a:solidFill>
          <a:schemeClr val="tx1"/>
        </a:solidFill>
        <a:latin typeface="+mn-lt"/>
        <a:ea typeface="+mn-ea"/>
        <a:cs typeface="+mn-cs"/>
      </a:defRPr>
    </a:lvl5pPr>
    <a:lvl6pPr marL="10972800" algn="l" defTabSz="2194560" rtl="0" eaLnBrk="1" latinLnBrk="0" hangingPunct="1">
      <a:defRPr sz="8600" kern="1200">
        <a:solidFill>
          <a:schemeClr val="tx1"/>
        </a:solidFill>
        <a:latin typeface="+mn-lt"/>
        <a:ea typeface="+mn-ea"/>
        <a:cs typeface="+mn-cs"/>
      </a:defRPr>
    </a:lvl6pPr>
    <a:lvl7pPr marL="13167360" algn="l" defTabSz="2194560" rtl="0" eaLnBrk="1" latinLnBrk="0" hangingPunct="1">
      <a:defRPr sz="8600" kern="1200">
        <a:solidFill>
          <a:schemeClr val="tx1"/>
        </a:solidFill>
        <a:latin typeface="+mn-lt"/>
        <a:ea typeface="+mn-ea"/>
        <a:cs typeface="+mn-cs"/>
      </a:defRPr>
    </a:lvl7pPr>
    <a:lvl8pPr marL="15361920" algn="l" defTabSz="2194560" rtl="0" eaLnBrk="1" latinLnBrk="0" hangingPunct="1">
      <a:defRPr sz="8600" kern="1200">
        <a:solidFill>
          <a:schemeClr val="tx1"/>
        </a:solidFill>
        <a:latin typeface="+mn-lt"/>
        <a:ea typeface="+mn-ea"/>
        <a:cs typeface="+mn-cs"/>
      </a:defRPr>
    </a:lvl8pPr>
    <a:lvl9pPr marL="17556480" algn="l" defTabSz="219456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33"/>
    <a:srgbClr val="FFFCED"/>
    <a:srgbClr val="FFF6D4"/>
    <a:srgbClr val="E3E9EC"/>
    <a:srgbClr val="ECF2F4"/>
    <a:srgbClr val="3599DB"/>
    <a:srgbClr val="D95050"/>
    <a:srgbClr val="00BA00"/>
    <a:srgbClr val="3BA4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44ACDE-C32B-3441-89BB-ED6D06DA3B4A}" v="101" dt="2024-09-29T01:43:49.628"/>
    <p1510:client id="{EA042E48-18BC-0994-EFC2-7DC96949C8EE}" v="35" dt="2024-09-29T01:49:11.8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7524"/>
    <p:restoredTop sz="96445" autoAdjust="0"/>
  </p:normalViewPr>
  <p:slideViewPr>
    <p:cSldViewPr snapToGrid="0" snapToObjects="1">
      <p:cViewPr>
        <p:scale>
          <a:sx n="40" d="100"/>
          <a:sy n="40" d="100"/>
        </p:scale>
        <p:origin x="102" y="-3000"/>
      </p:cViewPr>
      <p:guideLst>
        <p:guide orient="horz" pos="10368"/>
        <p:guide pos="1382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notesViewPr>
    <p:cSldViewPr snapToGrid="0" snapToObjects="1">
      <p:cViewPr varScale="1">
        <p:scale>
          <a:sx n="97" d="100"/>
          <a:sy n="97" d="100"/>
        </p:scale>
        <p:origin x="3120"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mee Eng" userId="S::aeng@ucm.rutgers.edu::f54c9e5d-d2be-4fa6-b8aa-32e0dd0b0c4e" providerId="AD" clId="Web-{A644ACDE-C32B-3441-89BB-ED6D06DA3B4A}"/>
    <pc:docChg chg="modSld">
      <pc:chgData name="Aimee Eng" userId="S::aeng@ucm.rutgers.edu::f54c9e5d-d2be-4fa6-b8aa-32e0dd0b0c4e" providerId="AD" clId="Web-{A644ACDE-C32B-3441-89BB-ED6D06DA3B4A}" dt="2024-09-29T01:43:49.628" v="59" actId="1076"/>
      <pc:docMkLst>
        <pc:docMk/>
      </pc:docMkLst>
      <pc:sldChg chg="modSp">
        <pc:chgData name="Aimee Eng" userId="S::aeng@ucm.rutgers.edu::f54c9e5d-d2be-4fa6-b8aa-32e0dd0b0c4e" providerId="AD" clId="Web-{A644ACDE-C32B-3441-89BB-ED6D06DA3B4A}" dt="2024-09-29T01:43:49.628" v="59" actId="1076"/>
        <pc:sldMkLst>
          <pc:docMk/>
          <pc:sldMk cId="0" sldId="256"/>
        </pc:sldMkLst>
        <pc:spChg chg="mod">
          <ac:chgData name="Aimee Eng" userId="S::aeng@ucm.rutgers.edu::f54c9e5d-d2be-4fa6-b8aa-32e0dd0b0c4e" providerId="AD" clId="Web-{A644ACDE-C32B-3441-89BB-ED6D06DA3B4A}" dt="2024-09-29T01:43:00.767" v="57" actId="14100"/>
          <ac:spMkLst>
            <pc:docMk/>
            <pc:sldMk cId="0" sldId="256"/>
            <ac:spMk id="3" creationId="{E1AC8E79-AA2B-BA10-DDFE-1143A85FA491}"/>
          </ac:spMkLst>
        </pc:spChg>
        <pc:spChg chg="mod">
          <ac:chgData name="Aimee Eng" userId="S::aeng@ucm.rutgers.edu::f54c9e5d-d2be-4fa6-b8aa-32e0dd0b0c4e" providerId="AD" clId="Web-{A644ACDE-C32B-3441-89BB-ED6D06DA3B4A}" dt="2024-09-29T01:43:13.314" v="58" actId="1076"/>
          <ac:spMkLst>
            <pc:docMk/>
            <pc:sldMk cId="0" sldId="256"/>
            <ac:spMk id="6" creationId="{EDE827F2-9A74-8CC3-E919-E81C07DECA55}"/>
          </ac:spMkLst>
        </pc:spChg>
        <pc:picChg chg="mod">
          <ac:chgData name="Aimee Eng" userId="S::aeng@ucm.rutgers.edu::f54c9e5d-d2be-4fa6-b8aa-32e0dd0b0c4e" providerId="AD" clId="Web-{A644ACDE-C32B-3441-89BB-ED6D06DA3B4A}" dt="2024-09-29T01:43:49.628" v="59" actId="1076"/>
          <ac:picMkLst>
            <pc:docMk/>
            <pc:sldMk cId="0" sldId="256"/>
            <ac:picMk id="45" creationId="{BB8AF97F-51A1-6B57-FD8B-56B5AB1C4377}"/>
          </ac:picMkLst>
        </pc:picChg>
      </pc:sldChg>
    </pc:docChg>
  </pc:docChgLst>
  <pc:docChgLst>
    <pc:chgData name="Aimee Eng" userId="S::aeng@ucm.rutgers.edu::f54c9e5d-d2be-4fa6-b8aa-32e0dd0b0c4e" providerId="AD" clId="Web-{EA042E48-18BC-0994-EFC2-7DC96949C8EE}"/>
    <pc:docChg chg="modSld">
      <pc:chgData name="Aimee Eng" userId="S::aeng@ucm.rutgers.edu::f54c9e5d-d2be-4fa6-b8aa-32e0dd0b0c4e" providerId="AD" clId="Web-{EA042E48-18BC-0994-EFC2-7DC96949C8EE}" dt="2024-09-29T01:49:11.525" v="16" actId="20577"/>
      <pc:docMkLst>
        <pc:docMk/>
      </pc:docMkLst>
      <pc:sldChg chg="modSp">
        <pc:chgData name="Aimee Eng" userId="S::aeng@ucm.rutgers.edu::f54c9e5d-d2be-4fa6-b8aa-32e0dd0b0c4e" providerId="AD" clId="Web-{EA042E48-18BC-0994-EFC2-7DC96949C8EE}" dt="2024-09-29T01:49:11.525" v="16" actId="20577"/>
        <pc:sldMkLst>
          <pc:docMk/>
          <pc:sldMk cId="0" sldId="256"/>
        </pc:sldMkLst>
        <pc:spChg chg="mod">
          <ac:chgData name="Aimee Eng" userId="S::aeng@ucm.rutgers.edu::f54c9e5d-d2be-4fa6-b8aa-32e0dd0b0c4e" providerId="AD" clId="Web-{EA042E48-18BC-0994-EFC2-7DC96949C8EE}" dt="2024-09-29T01:49:11.525" v="16" actId="20577"/>
          <ac:spMkLst>
            <pc:docMk/>
            <pc:sldMk cId="0" sldId="256"/>
            <ac:spMk id="3" creationId="{E1AC8E79-AA2B-BA10-DDFE-1143A85FA49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F6AA64-1EEF-1A47-B131-83D221454E6F}" type="datetimeFigureOut">
              <a:rPr lang="en-US" smtClean="0"/>
              <a:t>4/30/2026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9C7823-A3B6-3C4B-A663-073F0685EA52}" type="slidenum">
              <a:rPr lang="en-US" smtClean="0"/>
              <a:t>‹#›</a:t>
            </a:fld>
            <a:endParaRPr lang="en-US"/>
          </a:p>
        </p:txBody>
      </p:sp>
    </p:spTree>
    <p:extLst>
      <p:ext uri="{BB962C8B-B14F-4D97-AF65-F5344CB8AC3E}">
        <p14:creationId xmlns:p14="http://schemas.microsoft.com/office/powerpoint/2010/main" val="3442704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9C7823-A3B6-3C4B-A663-073F0685EA52}" type="slidenum">
              <a:rPr lang="en-US" smtClean="0"/>
              <a:t>1</a:t>
            </a:fld>
            <a:endParaRPr lang="en-US"/>
          </a:p>
        </p:txBody>
      </p:sp>
    </p:spTree>
    <p:extLst>
      <p:ext uri="{BB962C8B-B14F-4D97-AF65-F5344CB8AC3E}">
        <p14:creationId xmlns:p14="http://schemas.microsoft.com/office/powerpoint/2010/main" val="2944918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10226042"/>
            <a:ext cx="37307520" cy="7056120"/>
          </a:xfrm>
        </p:spPr>
        <p:txBody>
          <a:bodyPr/>
          <a:lstStyle/>
          <a:p>
            <a:r>
              <a:rPr lang="en-US"/>
              <a:t>Click to edit Master title style</a:t>
            </a:r>
          </a:p>
        </p:txBody>
      </p:sp>
      <p:sp>
        <p:nvSpPr>
          <p:cNvPr id="3" name="Subtitle 2"/>
          <p:cNvSpPr>
            <a:spLocks noGrp="1"/>
          </p:cNvSpPr>
          <p:nvPr>
            <p:ph type="subTitle" idx="1"/>
          </p:nvPr>
        </p:nvSpPr>
        <p:spPr>
          <a:xfrm>
            <a:off x="6583680" y="18653760"/>
            <a:ext cx="30723840" cy="8412480"/>
          </a:xfrm>
        </p:spPr>
        <p:txBody>
          <a:bodyPr/>
          <a:lstStyle>
            <a:lvl1pPr marL="0" indent="0" algn="ctr">
              <a:buNone/>
              <a:defRPr>
                <a:solidFill>
                  <a:schemeClr val="tx1">
                    <a:tint val="75000"/>
                  </a:schemeClr>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C2C9624-8537-344B-A181-774C3CF89A66}"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2C9624-8537-344B-A181-774C3CF89A66}"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2" y="21153122"/>
            <a:ext cx="37307520" cy="6537960"/>
          </a:xfrm>
        </p:spPr>
        <p:txBody>
          <a:bodyPr anchor="t"/>
          <a:lstStyle>
            <a:lvl1pPr algn="l">
              <a:defRPr sz="19200" b="1" cap="all"/>
            </a:lvl1pPr>
          </a:lstStyle>
          <a:p>
            <a:r>
              <a:rPr lang="en-US"/>
              <a:t>Click to edit Master title style</a:t>
            </a:r>
          </a:p>
        </p:txBody>
      </p:sp>
      <p:sp>
        <p:nvSpPr>
          <p:cNvPr id="3" name="Text Placeholder 2"/>
          <p:cNvSpPr>
            <a:spLocks noGrp="1"/>
          </p:cNvSpPr>
          <p:nvPr>
            <p:ph type="body" idx="1"/>
          </p:nvPr>
        </p:nvSpPr>
        <p:spPr>
          <a:xfrm>
            <a:off x="3467102" y="13952225"/>
            <a:ext cx="37307520" cy="7200898"/>
          </a:xfrm>
        </p:spPr>
        <p:txBody>
          <a:bodyPr anchor="b"/>
          <a:lstStyle>
            <a:lvl1pPr marL="0" indent="0">
              <a:buNone/>
              <a:defRPr sz="9600">
                <a:solidFill>
                  <a:schemeClr val="tx1">
                    <a:tint val="75000"/>
                  </a:schemeClr>
                </a:solidFill>
              </a:defRPr>
            </a:lvl1pPr>
            <a:lvl2pPr marL="2194560" indent="0">
              <a:buNone/>
              <a:defRPr sz="8600">
                <a:solidFill>
                  <a:schemeClr val="tx1">
                    <a:tint val="75000"/>
                  </a:schemeClr>
                </a:solidFill>
              </a:defRPr>
            </a:lvl2pPr>
            <a:lvl3pPr marL="4389120" indent="0">
              <a:buNone/>
              <a:defRPr sz="7700">
                <a:solidFill>
                  <a:schemeClr val="tx1">
                    <a:tint val="75000"/>
                  </a:schemeClr>
                </a:solidFill>
              </a:defRPr>
            </a:lvl3pPr>
            <a:lvl4pPr marL="6583680" indent="0">
              <a:buNone/>
              <a:defRPr sz="6700">
                <a:solidFill>
                  <a:schemeClr val="tx1">
                    <a:tint val="75000"/>
                  </a:schemeClr>
                </a:solidFill>
              </a:defRPr>
            </a:lvl4pPr>
            <a:lvl5pPr marL="8778240" indent="0">
              <a:buNone/>
              <a:defRPr sz="6700">
                <a:solidFill>
                  <a:schemeClr val="tx1">
                    <a:tint val="75000"/>
                  </a:schemeClr>
                </a:solidFill>
              </a:defRPr>
            </a:lvl5pPr>
            <a:lvl6pPr marL="10972800" indent="0">
              <a:buNone/>
              <a:defRPr sz="6700">
                <a:solidFill>
                  <a:schemeClr val="tx1">
                    <a:tint val="75000"/>
                  </a:schemeClr>
                </a:solidFill>
              </a:defRPr>
            </a:lvl6pPr>
            <a:lvl7pPr marL="13167360" indent="0">
              <a:buNone/>
              <a:defRPr sz="6700">
                <a:solidFill>
                  <a:schemeClr val="tx1">
                    <a:tint val="75000"/>
                  </a:schemeClr>
                </a:solidFill>
              </a:defRPr>
            </a:lvl7pPr>
            <a:lvl8pPr marL="15361920" indent="0">
              <a:buNone/>
              <a:defRPr sz="6700">
                <a:solidFill>
                  <a:schemeClr val="tx1">
                    <a:tint val="75000"/>
                  </a:schemeClr>
                </a:solidFill>
              </a:defRPr>
            </a:lvl8pPr>
            <a:lvl9pPr marL="17556480" indent="0">
              <a:buNone/>
              <a:defRPr sz="6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2C9624-8537-344B-A181-774C3CF89A66}"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530842" y="36865560"/>
            <a:ext cx="94442280" cy="10427970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05704642" y="36865560"/>
            <a:ext cx="94442280" cy="10427970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C2C9624-8537-344B-A181-774C3CF89A66}" type="datetimeFigureOut">
              <a:rPr lang="en-US" smtClean="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560" y="1318262"/>
            <a:ext cx="39502080"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560" y="7368542"/>
            <a:ext cx="19392902"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4" name="Content Placeholder 3"/>
          <p:cNvSpPr>
            <a:spLocks noGrp="1"/>
          </p:cNvSpPr>
          <p:nvPr>
            <p:ph sz="half" idx="2"/>
          </p:nvPr>
        </p:nvSpPr>
        <p:spPr>
          <a:xfrm>
            <a:off x="2194560" y="10439400"/>
            <a:ext cx="19392902"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122" y="7368542"/>
            <a:ext cx="19400520"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6" name="Content Placeholder 5"/>
          <p:cNvSpPr>
            <a:spLocks noGrp="1"/>
          </p:cNvSpPr>
          <p:nvPr>
            <p:ph sz="quarter" idx="4"/>
          </p:nvPr>
        </p:nvSpPr>
        <p:spPr>
          <a:xfrm>
            <a:off x="22296122" y="10439400"/>
            <a:ext cx="19400520"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C2C9624-8537-344B-A181-774C3CF89A66}" type="datetimeFigureOut">
              <a:rPr lang="en-US" smtClean="0"/>
              <a:pPr/>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2C9624-8537-344B-A181-774C3CF89A66}" type="datetimeFigureOut">
              <a:rPr lang="en-US" smtClean="0"/>
              <a:pPr/>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2C9624-8537-344B-A181-774C3CF89A66}" type="datetimeFigureOut">
              <a:rPr lang="en-US" smtClean="0"/>
              <a:pPr/>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3" y="1310640"/>
            <a:ext cx="14439902" cy="5577840"/>
          </a:xfrm>
        </p:spPr>
        <p:txBody>
          <a:bodyPr anchor="b"/>
          <a:lstStyle>
            <a:lvl1pPr algn="l">
              <a:defRPr sz="9600" b="1"/>
            </a:lvl1pPr>
          </a:lstStyle>
          <a:p>
            <a:r>
              <a:rPr lang="en-US"/>
              <a:t>Click to edit Master title style</a:t>
            </a:r>
          </a:p>
        </p:txBody>
      </p:sp>
      <p:sp>
        <p:nvSpPr>
          <p:cNvPr id="3" name="Content Placeholder 2"/>
          <p:cNvSpPr>
            <a:spLocks noGrp="1"/>
          </p:cNvSpPr>
          <p:nvPr>
            <p:ph idx="1"/>
          </p:nvPr>
        </p:nvSpPr>
        <p:spPr>
          <a:xfrm>
            <a:off x="17160240" y="1310643"/>
            <a:ext cx="24536400" cy="28094942"/>
          </a:xfrm>
        </p:spPr>
        <p:txBody>
          <a:bodyPr/>
          <a:lstStyle>
            <a:lvl1pPr>
              <a:defRPr sz="15400"/>
            </a:lvl1pPr>
            <a:lvl2pPr>
              <a:defRPr sz="13400"/>
            </a:lvl2pPr>
            <a:lvl3pPr>
              <a:defRPr sz="1150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563" y="6888483"/>
            <a:ext cx="14439902" cy="22517102"/>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4"/>
          <p:cNvSpPr>
            <a:spLocks noGrp="1"/>
          </p:cNvSpPr>
          <p:nvPr>
            <p:ph type="dt" sz="half" idx="10"/>
          </p:nvPr>
        </p:nvSpPr>
        <p:spPr/>
        <p:txBody>
          <a:bodyPr/>
          <a:lstStyle/>
          <a:p>
            <a:fld id="{0C2C9624-8537-344B-A181-774C3CF89A66}" type="datetimeFigureOut">
              <a:rPr lang="en-US" smtClean="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2" y="23042880"/>
            <a:ext cx="26334720" cy="2720342"/>
          </a:xfrm>
        </p:spPr>
        <p:txBody>
          <a:bodyPr anchor="b"/>
          <a:lstStyle>
            <a:lvl1pPr algn="l">
              <a:defRPr sz="9600" b="1"/>
            </a:lvl1pPr>
          </a:lstStyle>
          <a:p>
            <a:r>
              <a:rPr lang="en-US"/>
              <a:t>Click to edit Master title style</a:t>
            </a:r>
          </a:p>
        </p:txBody>
      </p:sp>
      <p:sp>
        <p:nvSpPr>
          <p:cNvPr id="3" name="Picture Placeholder 2"/>
          <p:cNvSpPr>
            <a:spLocks noGrp="1"/>
          </p:cNvSpPr>
          <p:nvPr>
            <p:ph type="pic" idx="1"/>
          </p:nvPr>
        </p:nvSpPr>
        <p:spPr>
          <a:xfrm>
            <a:off x="8602982" y="2941320"/>
            <a:ext cx="26334720" cy="19751040"/>
          </a:xfrm>
        </p:spPr>
        <p:txBody>
          <a:bodyPr/>
          <a:lstStyle>
            <a:lvl1pPr marL="0" indent="0">
              <a:buNone/>
              <a:defRPr sz="15400"/>
            </a:lvl1pPr>
            <a:lvl2pPr marL="2194560" indent="0">
              <a:buNone/>
              <a:defRPr sz="13400"/>
            </a:lvl2pPr>
            <a:lvl3pPr marL="4389120" indent="0">
              <a:buNone/>
              <a:defRPr sz="115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endParaRPr lang="en-US"/>
          </a:p>
        </p:txBody>
      </p:sp>
      <p:sp>
        <p:nvSpPr>
          <p:cNvPr id="4" name="Text Placeholder 3"/>
          <p:cNvSpPr>
            <a:spLocks noGrp="1"/>
          </p:cNvSpPr>
          <p:nvPr>
            <p:ph type="body" sz="half" idx="2"/>
          </p:nvPr>
        </p:nvSpPr>
        <p:spPr>
          <a:xfrm>
            <a:off x="8602982" y="25763222"/>
            <a:ext cx="26334720" cy="3863338"/>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4"/>
          <p:cNvSpPr>
            <a:spLocks noGrp="1"/>
          </p:cNvSpPr>
          <p:nvPr>
            <p:ph type="dt" sz="half" idx="10"/>
          </p:nvPr>
        </p:nvSpPr>
        <p:spPr/>
        <p:txBody>
          <a:bodyPr/>
          <a:lstStyle/>
          <a:p>
            <a:fld id="{0C2C9624-8537-344B-A181-774C3CF89A66}" type="datetimeFigureOut">
              <a:rPr lang="en-US" smtClean="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2C9624-8537-344B-A181-774C3CF89A66}"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2742905" y="6324600"/>
            <a:ext cx="47404018" cy="1348206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530843" y="6324600"/>
            <a:ext cx="141480542" cy="1348206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2C9624-8537-344B-A181-774C3CF89A66}"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0" y="1318262"/>
            <a:ext cx="39502080" cy="5486400"/>
          </a:xfrm>
          <a:prstGeom prst="rect">
            <a:avLst/>
          </a:prstGeom>
        </p:spPr>
        <p:txBody>
          <a:bodyPr vert="horz" lIns="438912" tIns="219456" rIns="438912" bIns="219456" rtlCol="0" anchor="ctr">
            <a:normAutofit/>
          </a:bodyPr>
          <a:lstStyle/>
          <a:p>
            <a:r>
              <a:rPr lang="en-US"/>
              <a:t>Click to edit Master title style</a:t>
            </a:r>
          </a:p>
        </p:txBody>
      </p:sp>
      <p:sp>
        <p:nvSpPr>
          <p:cNvPr id="3" name="Text Placeholder 2"/>
          <p:cNvSpPr>
            <a:spLocks noGrp="1"/>
          </p:cNvSpPr>
          <p:nvPr>
            <p:ph type="body" idx="1"/>
          </p:nvPr>
        </p:nvSpPr>
        <p:spPr>
          <a:xfrm>
            <a:off x="2194560" y="7680963"/>
            <a:ext cx="39502080" cy="21724622"/>
          </a:xfrm>
          <a:prstGeom prst="rect">
            <a:avLst/>
          </a:prstGeom>
        </p:spPr>
        <p:txBody>
          <a:bodyPr vert="horz" lIns="438912" tIns="219456" rIns="438912" bIns="21945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94560" y="30510482"/>
            <a:ext cx="10241280" cy="1752600"/>
          </a:xfrm>
          <a:prstGeom prst="rect">
            <a:avLst/>
          </a:prstGeom>
        </p:spPr>
        <p:txBody>
          <a:bodyPr vert="horz" lIns="438912" tIns="219456" rIns="438912" bIns="219456" rtlCol="0" anchor="ctr"/>
          <a:lstStyle>
            <a:lvl1pPr algn="l">
              <a:defRPr sz="5800">
                <a:solidFill>
                  <a:schemeClr val="tx1">
                    <a:tint val="75000"/>
                  </a:schemeClr>
                </a:solidFill>
              </a:defRPr>
            </a:lvl1pPr>
          </a:lstStyle>
          <a:p>
            <a:fld id="{0C2C9624-8537-344B-A181-774C3CF89A66}" type="datetimeFigureOut">
              <a:rPr lang="en-US" smtClean="0"/>
              <a:pPr/>
              <a:t>4/30/2026</a:t>
            </a:fld>
            <a:endParaRPr lang="en-US"/>
          </a:p>
        </p:txBody>
      </p:sp>
      <p:sp>
        <p:nvSpPr>
          <p:cNvPr id="5" name="Footer Placeholder 4"/>
          <p:cNvSpPr>
            <a:spLocks noGrp="1"/>
          </p:cNvSpPr>
          <p:nvPr>
            <p:ph type="ftr" sz="quarter" idx="3"/>
          </p:nvPr>
        </p:nvSpPr>
        <p:spPr>
          <a:xfrm>
            <a:off x="14996160" y="30510482"/>
            <a:ext cx="13898880" cy="1752600"/>
          </a:xfrm>
          <a:prstGeom prst="rect">
            <a:avLst/>
          </a:prstGeom>
        </p:spPr>
        <p:txBody>
          <a:bodyPr vert="horz" lIns="438912" tIns="219456" rIns="438912" bIns="219456" rtlCol="0" anchor="ctr"/>
          <a:lstStyle>
            <a:lvl1pPr algn="ctr">
              <a:defRPr sz="5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1455360" y="30510482"/>
            <a:ext cx="10241280" cy="1752600"/>
          </a:xfrm>
          <a:prstGeom prst="rect">
            <a:avLst/>
          </a:prstGeom>
        </p:spPr>
        <p:txBody>
          <a:bodyPr vert="horz" lIns="438912" tIns="219456" rIns="438912" bIns="219456" rtlCol="0" anchor="ctr"/>
          <a:lstStyle>
            <a:lvl1pPr algn="r">
              <a:defRPr sz="5800">
                <a:solidFill>
                  <a:schemeClr val="tx1">
                    <a:tint val="75000"/>
                  </a:schemeClr>
                </a:solidFill>
              </a:defRPr>
            </a:lvl1pPr>
          </a:lstStyle>
          <a:p>
            <a:fld id="{4AF12122-570C-394B-A3C0-8A0DA37D738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194560" rtl="0" eaLnBrk="1" latinLnBrk="0" hangingPunct="1">
        <a:spcBef>
          <a:spcPct val="0"/>
        </a:spcBef>
        <a:buNone/>
        <a:defRPr sz="21100" kern="1200">
          <a:solidFill>
            <a:schemeClr val="tx1"/>
          </a:solidFill>
          <a:latin typeface="+mj-lt"/>
          <a:ea typeface="+mj-ea"/>
          <a:cs typeface="+mj-cs"/>
        </a:defRPr>
      </a:lvl1pPr>
    </p:titleStyle>
    <p:bodyStyle>
      <a:lvl1pPr marL="1645920" indent="-1645920" algn="l" defTabSz="2194560" rtl="0" eaLnBrk="1" latinLnBrk="0" hangingPunct="1">
        <a:spcBef>
          <a:spcPct val="20000"/>
        </a:spcBef>
        <a:buFont typeface="Arial"/>
        <a:buChar char="•"/>
        <a:defRPr sz="15400" kern="1200">
          <a:solidFill>
            <a:schemeClr val="tx1"/>
          </a:solidFill>
          <a:latin typeface="+mn-lt"/>
          <a:ea typeface="+mn-ea"/>
          <a:cs typeface="+mn-cs"/>
        </a:defRPr>
      </a:lvl1pPr>
      <a:lvl2pPr marL="3566160" indent="-1371600" algn="l" defTabSz="2194560" rtl="0" eaLnBrk="1" latinLnBrk="0" hangingPunct="1">
        <a:spcBef>
          <a:spcPct val="20000"/>
        </a:spcBef>
        <a:buFont typeface="Arial"/>
        <a:buChar char="–"/>
        <a:defRPr sz="13400" kern="1200">
          <a:solidFill>
            <a:schemeClr val="tx1"/>
          </a:solidFill>
          <a:latin typeface="+mn-lt"/>
          <a:ea typeface="+mn-ea"/>
          <a:cs typeface="+mn-cs"/>
        </a:defRPr>
      </a:lvl2pPr>
      <a:lvl3pPr marL="5486400" indent="-1097280" algn="l" defTabSz="2194560" rtl="0" eaLnBrk="1" latinLnBrk="0" hangingPunct="1">
        <a:spcBef>
          <a:spcPct val="20000"/>
        </a:spcBef>
        <a:buFont typeface="Arial"/>
        <a:buChar char="•"/>
        <a:defRPr sz="11500" kern="1200">
          <a:solidFill>
            <a:schemeClr val="tx1"/>
          </a:solidFill>
          <a:latin typeface="+mn-lt"/>
          <a:ea typeface="+mn-ea"/>
          <a:cs typeface="+mn-cs"/>
        </a:defRPr>
      </a:lvl3pPr>
      <a:lvl4pPr marL="7680960" indent="-1097280" algn="l" defTabSz="2194560" rtl="0" eaLnBrk="1" latinLnBrk="0" hangingPunct="1">
        <a:spcBef>
          <a:spcPct val="20000"/>
        </a:spcBef>
        <a:buFont typeface="Arial"/>
        <a:buChar char="–"/>
        <a:defRPr sz="9600" kern="1200">
          <a:solidFill>
            <a:schemeClr val="tx1"/>
          </a:solidFill>
          <a:latin typeface="+mn-lt"/>
          <a:ea typeface="+mn-ea"/>
          <a:cs typeface="+mn-cs"/>
        </a:defRPr>
      </a:lvl4pPr>
      <a:lvl5pPr marL="9875520" indent="-1097280" algn="l" defTabSz="2194560" rtl="0" eaLnBrk="1" latinLnBrk="0" hangingPunct="1">
        <a:spcBef>
          <a:spcPct val="20000"/>
        </a:spcBef>
        <a:buFont typeface="Arial"/>
        <a:buChar char="»"/>
        <a:defRPr sz="9600" kern="1200">
          <a:solidFill>
            <a:schemeClr val="tx1"/>
          </a:solidFill>
          <a:latin typeface="+mn-lt"/>
          <a:ea typeface="+mn-ea"/>
          <a:cs typeface="+mn-cs"/>
        </a:defRPr>
      </a:lvl5pPr>
      <a:lvl6pPr marL="12070080" indent="-1097280" algn="l" defTabSz="2194560" rtl="0" eaLnBrk="1" latinLnBrk="0" hangingPunct="1">
        <a:spcBef>
          <a:spcPct val="20000"/>
        </a:spcBef>
        <a:buFont typeface="Arial"/>
        <a:buChar char="•"/>
        <a:defRPr sz="9600" kern="1200">
          <a:solidFill>
            <a:schemeClr val="tx1"/>
          </a:solidFill>
          <a:latin typeface="+mn-lt"/>
          <a:ea typeface="+mn-ea"/>
          <a:cs typeface="+mn-cs"/>
        </a:defRPr>
      </a:lvl6pPr>
      <a:lvl7pPr marL="14264640" indent="-1097280" algn="l" defTabSz="2194560" rtl="0" eaLnBrk="1" latinLnBrk="0" hangingPunct="1">
        <a:spcBef>
          <a:spcPct val="20000"/>
        </a:spcBef>
        <a:buFont typeface="Arial"/>
        <a:buChar char="•"/>
        <a:defRPr sz="9600" kern="1200">
          <a:solidFill>
            <a:schemeClr val="tx1"/>
          </a:solidFill>
          <a:latin typeface="+mn-lt"/>
          <a:ea typeface="+mn-ea"/>
          <a:cs typeface="+mn-cs"/>
        </a:defRPr>
      </a:lvl7pPr>
      <a:lvl8pPr marL="16459200" indent="-1097280" algn="l" defTabSz="2194560" rtl="0" eaLnBrk="1" latinLnBrk="0" hangingPunct="1">
        <a:spcBef>
          <a:spcPct val="20000"/>
        </a:spcBef>
        <a:buFont typeface="Arial"/>
        <a:buChar char="•"/>
        <a:defRPr sz="9600" kern="1200">
          <a:solidFill>
            <a:schemeClr val="tx1"/>
          </a:solidFill>
          <a:latin typeface="+mn-lt"/>
          <a:ea typeface="+mn-ea"/>
          <a:cs typeface="+mn-cs"/>
        </a:defRPr>
      </a:lvl8pPr>
      <a:lvl9pPr marL="18653760" indent="-1097280" algn="l" defTabSz="2194560" rtl="0" eaLnBrk="1" latinLnBrk="0" hangingPunct="1">
        <a:spcBef>
          <a:spcPct val="20000"/>
        </a:spcBef>
        <a:buFont typeface="Arial"/>
        <a:buChar char="•"/>
        <a:defRPr sz="9600" kern="1200">
          <a:solidFill>
            <a:schemeClr val="tx1"/>
          </a:solidFill>
          <a:latin typeface="+mn-lt"/>
          <a:ea typeface="+mn-ea"/>
          <a:cs typeface="+mn-cs"/>
        </a:defRPr>
      </a:lvl9pPr>
    </p:bodyStyle>
    <p:otherStyle>
      <a:defPPr>
        <a:defRPr lang="en-US"/>
      </a:defPPr>
      <a:lvl1pPr marL="0" algn="l" defTabSz="2194560" rtl="0" eaLnBrk="1" latinLnBrk="0" hangingPunct="1">
        <a:defRPr sz="8600" kern="1200">
          <a:solidFill>
            <a:schemeClr val="tx1"/>
          </a:solidFill>
          <a:latin typeface="+mn-lt"/>
          <a:ea typeface="+mn-ea"/>
          <a:cs typeface="+mn-cs"/>
        </a:defRPr>
      </a:lvl1pPr>
      <a:lvl2pPr marL="2194560" algn="l" defTabSz="2194560" rtl="0" eaLnBrk="1" latinLnBrk="0" hangingPunct="1">
        <a:defRPr sz="8600" kern="1200">
          <a:solidFill>
            <a:schemeClr val="tx1"/>
          </a:solidFill>
          <a:latin typeface="+mn-lt"/>
          <a:ea typeface="+mn-ea"/>
          <a:cs typeface="+mn-cs"/>
        </a:defRPr>
      </a:lvl2pPr>
      <a:lvl3pPr marL="4389120" algn="l" defTabSz="2194560" rtl="0" eaLnBrk="1" latinLnBrk="0" hangingPunct="1">
        <a:defRPr sz="8600" kern="1200">
          <a:solidFill>
            <a:schemeClr val="tx1"/>
          </a:solidFill>
          <a:latin typeface="+mn-lt"/>
          <a:ea typeface="+mn-ea"/>
          <a:cs typeface="+mn-cs"/>
        </a:defRPr>
      </a:lvl3pPr>
      <a:lvl4pPr marL="6583680" algn="l" defTabSz="2194560" rtl="0" eaLnBrk="1" latinLnBrk="0" hangingPunct="1">
        <a:defRPr sz="8600" kern="1200">
          <a:solidFill>
            <a:schemeClr val="tx1"/>
          </a:solidFill>
          <a:latin typeface="+mn-lt"/>
          <a:ea typeface="+mn-ea"/>
          <a:cs typeface="+mn-cs"/>
        </a:defRPr>
      </a:lvl4pPr>
      <a:lvl5pPr marL="8778240" algn="l" defTabSz="2194560" rtl="0" eaLnBrk="1" latinLnBrk="0" hangingPunct="1">
        <a:defRPr sz="8600" kern="1200">
          <a:solidFill>
            <a:schemeClr val="tx1"/>
          </a:solidFill>
          <a:latin typeface="+mn-lt"/>
          <a:ea typeface="+mn-ea"/>
          <a:cs typeface="+mn-cs"/>
        </a:defRPr>
      </a:lvl5pPr>
      <a:lvl6pPr marL="10972800" algn="l" defTabSz="2194560" rtl="0" eaLnBrk="1" latinLnBrk="0" hangingPunct="1">
        <a:defRPr sz="8600" kern="1200">
          <a:solidFill>
            <a:schemeClr val="tx1"/>
          </a:solidFill>
          <a:latin typeface="+mn-lt"/>
          <a:ea typeface="+mn-ea"/>
          <a:cs typeface="+mn-cs"/>
        </a:defRPr>
      </a:lvl6pPr>
      <a:lvl7pPr marL="13167360" algn="l" defTabSz="2194560" rtl="0" eaLnBrk="1" latinLnBrk="0" hangingPunct="1">
        <a:defRPr sz="8600" kern="1200">
          <a:solidFill>
            <a:schemeClr val="tx1"/>
          </a:solidFill>
          <a:latin typeface="+mn-lt"/>
          <a:ea typeface="+mn-ea"/>
          <a:cs typeface="+mn-cs"/>
        </a:defRPr>
      </a:lvl7pPr>
      <a:lvl8pPr marL="15361920" algn="l" defTabSz="2194560" rtl="0" eaLnBrk="1" latinLnBrk="0" hangingPunct="1">
        <a:defRPr sz="8600" kern="1200">
          <a:solidFill>
            <a:schemeClr val="tx1"/>
          </a:solidFill>
          <a:latin typeface="+mn-lt"/>
          <a:ea typeface="+mn-ea"/>
          <a:cs typeface="+mn-cs"/>
        </a:defRPr>
      </a:lvl8pPr>
      <a:lvl9pPr marL="17556480" algn="l" defTabSz="219456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6">
            <a:extLst>
              <a:ext uri="{FF2B5EF4-FFF2-40B4-BE49-F238E27FC236}">
                <a16:creationId xmlns:a16="http://schemas.microsoft.com/office/drawing/2014/main" id="{E1AC8E79-AA2B-BA10-DDFE-1143A85FA491}"/>
              </a:ext>
            </a:extLst>
          </p:cNvPr>
          <p:cNvSpPr txBox="1">
            <a:spLocks noChangeArrowheads="1"/>
          </p:cNvSpPr>
          <p:nvPr/>
        </p:nvSpPr>
        <p:spPr bwMode="auto">
          <a:xfrm>
            <a:off x="12800104" y="1011623"/>
            <a:ext cx="20011353" cy="3979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9925" tIns="39970" rIns="79925" bIns="39970" anchor="t">
            <a:spAutoFit/>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a:r>
              <a:rPr lang="en-US" sz="7200" baseline="0" dirty="0">
                <a:latin typeface="Arial"/>
                <a:ea typeface="SimSun"/>
                <a:cs typeface="Arial"/>
              </a:rPr>
              <a:t>[Success/Failure Classification Model for Robotic Grasps Configurations]</a:t>
            </a:r>
            <a:endParaRPr lang="en-US" dirty="0"/>
          </a:p>
          <a:p>
            <a:pPr algn="ctr"/>
            <a:r>
              <a:rPr lang="en-US" sz="8200" dirty="0">
                <a:latin typeface="Arial"/>
                <a:ea typeface="MS PGothic"/>
                <a:cs typeface="Arial"/>
              </a:rPr>
              <a:t>[Aditya Ningaiah]</a:t>
            </a:r>
            <a:endParaRPr lang="en-US" dirty="0"/>
          </a:p>
          <a:p>
            <a:pPr algn="ctr" eaLnBrk="1" hangingPunct="1">
              <a:spcBef>
                <a:spcPts val="0"/>
              </a:spcBef>
            </a:pPr>
            <a:endParaRPr lang="en-US" sz="8200" dirty="0"/>
          </a:p>
        </p:txBody>
      </p:sp>
      <p:sp>
        <p:nvSpPr>
          <p:cNvPr id="6" name="Text Box 18">
            <a:extLst>
              <a:ext uri="{FF2B5EF4-FFF2-40B4-BE49-F238E27FC236}">
                <a16:creationId xmlns:a16="http://schemas.microsoft.com/office/drawing/2014/main" id="{EDE827F2-9A74-8CC3-E919-E81C07DECA55}"/>
              </a:ext>
            </a:extLst>
          </p:cNvPr>
          <p:cNvSpPr txBox="1">
            <a:spLocks noChangeArrowheads="1"/>
          </p:cNvSpPr>
          <p:nvPr/>
        </p:nvSpPr>
        <p:spPr bwMode="auto">
          <a:xfrm>
            <a:off x="8839200" y="4658361"/>
            <a:ext cx="30114240" cy="553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9925" tIns="39970" rIns="79925" bIns="39970">
            <a:spAutoFit/>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eaLnBrk="1" hangingPunct="1">
              <a:lnSpc>
                <a:spcPct val="60000"/>
              </a:lnSpc>
              <a:spcBef>
                <a:spcPct val="50000"/>
              </a:spcBef>
            </a:pPr>
            <a:r>
              <a:rPr lang="en-US" altLang="zh-CN" sz="4800" baseline="0" dirty="0">
                <a:ea typeface="SimSun" pitchFamily="2" charset="-122"/>
              </a:rPr>
              <a:t>Department of Mechanical and Aerospace Engineering, Rutgers University, Piscataway, New Jersey </a:t>
            </a:r>
          </a:p>
        </p:txBody>
      </p:sp>
      <p:grpSp>
        <p:nvGrpSpPr>
          <p:cNvPr id="7" name="Group 6">
            <a:extLst>
              <a:ext uri="{FF2B5EF4-FFF2-40B4-BE49-F238E27FC236}">
                <a16:creationId xmlns:a16="http://schemas.microsoft.com/office/drawing/2014/main" id="{7E2AB207-003C-5646-C80A-98572CF1780B}"/>
              </a:ext>
            </a:extLst>
          </p:cNvPr>
          <p:cNvGrpSpPr/>
          <p:nvPr/>
        </p:nvGrpSpPr>
        <p:grpSpPr>
          <a:xfrm>
            <a:off x="487412" y="5497672"/>
            <a:ext cx="13931037" cy="13274756"/>
            <a:chOff x="1219200" y="6557962"/>
            <a:chExt cx="16106775" cy="10210799"/>
          </a:xfrm>
        </p:grpSpPr>
        <p:sp>
          <p:nvSpPr>
            <p:cNvPr id="13" name="Rectangle 31">
              <a:extLst>
                <a:ext uri="{FF2B5EF4-FFF2-40B4-BE49-F238E27FC236}">
                  <a16:creationId xmlns:a16="http://schemas.microsoft.com/office/drawing/2014/main" id="{4D241190-D9C9-86EC-E4F1-A528F51C6471}"/>
                </a:ext>
              </a:extLst>
            </p:cNvPr>
            <p:cNvSpPr>
              <a:spLocks noChangeArrowheads="1"/>
            </p:cNvSpPr>
            <p:nvPr/>
          </p:nvSpPr>
          <p:spPr bwMode="auto">
            <a:xfrm>
              <a:off x="1219200" y="6557962"/>
              <a:ext cx="16078200" cy="10210799"/>
            </a:xfrm>
            <a:prstGeom prst="rect">
              <a:avLst/>
            </a:prstGeom>
            <a:noFill/>
            <a:ln w="12700" cmpd="sng">
              <a:solidFill>
                <a:srgbClr val="CA020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aseline="0"/>
            </a:p>
          </p:txBody>
        </p:sp>
        <p:sp>
          <p:nvSpPr>
            <p:cNvPr id="16" name="Rectangle 69">
              <a:extLst>
                <a:ext uri="{FF2B5EF4-FFF2-40B4-BE49-F238E27FC236}">
                  <a16:creationId xmlns:a16="http://schemas.microsoft.com/office/drawing/2014/main" id="{B7B34FD1-EAFC-3EA1-1CA2-FD199B2D120E}"/>
                </a:ext>
              </a:extLst>
            </p:cNvPr>
            <p:cNvSpPr/>
            <p:nvPr/>
          </p:nvSpPr>
          <p:spPr>
            <a:xfrm>
              <a:off x="1219200" y="6572713"/>
              <a:ext cx="16106775" cy="582840"/>
            </a:xfrm>
            <a:custGeom>
              <a:avLst/>
              <a:gdLst>
                <a:gd name="connsiteX0" fmla="*/ 0 w 16106775"/>
                <a:gd name="connsiteY0" fmla="*/ 0 h 646331"/>
                <a:gd name="connsiteX1" fmla="*/ 16106775 w 16106775"/>
                <a:gd name="connsiteY1" fmla="*/ 0 h 646331"/>
                <a:gd name="connsiteX2" fmla="*/ 16106775 w 16106775"/>
                <a:gd name="connsiteY2" fmla="*/ 646331 h 646331"/>
                <a:gd name="connsiteX3" fmla="*/ 0 w 16106775"/>
                <a:gd name="connsiteY3" fmla="*/ 646331 h 646331"/>
                <a:gd name="connsiteX4" fmla="*/ 0 w 16106775"/>
                <a:gd name="connsiteY4" fmla="*/ 0 h 646331"/>
                <a:gd name="connsiteX0" fmla="*/ 0 w 16106775"/>
                <a:gd name="connsiteY0" fmla="*/ 0 h 817781"/>
                <a:gd name="connsiteX1" fmla="*/ 16106775 w 16106775"/>
                <a:gd name="connsiteY1" fmla="*/ 0 h 817781"/>
                <a:gd name="connsiteX2" fmla="*/ 16106775 w 16106775"/>
                <a:gd name="connsiteY2" fmla="*/ 646331 h 817781"/>
                <a:gd name="connsiteX3" fmla="*/ 0 w 16106775"/>
                <a:gd name="connsiteY3" fmla="*/ 817781 h 817781"/>
                <a:gd name="connsiteX4" fmla="*/ 0 w 16106775"/>
                <a:gd name="connsiteY4" fmla="*/ 0 h 817781"/>
                <a:gd name="connsiteX0" fmla="*/ 0 w 16106775"/>
                <a:gd name="connsiteY0" fmla="*/ 0 h 817781"/>
                <a:gd name="connsiteX1" fmla="*/ 16106775 w 16106775"/>
                <a:gd name="connsiteY1" fmla="*/ 0 h 817781"/>
                <a:gd name="connsiteX2" fmla="*/ 16106775 w 16106775"/>
                <a:gd name="connsiteY2" fmla="*/ 817781 h 817781"/>
                <a:gd name="connsiteX3" fmla="*/ 0 w 16106775"/>
                <a:gd name="connsiteY3" fmla="*/ 817781 h 817781"/>
                <a:gd name="connsiteX4" fmla="*/ 0 w 16106775"/>
                <a:gd name="connsiteY4" fmla="*/ 0 h 817781"/>
                <a:gd name="connsiteX0" fmla="*/ 0 w 16106775"/>
                <a:gd name="connsiteY0" fmla="*/ 0 h 979756"/>
                <a:gd name="connsiteX1" fmla="*/ 16106775 w 16106775"/>
                <a:gd name="connsiteY1" fmla="*/ 0 h 979756"/>
                <a:gd name="connsiteX2" fmla="*/ 16106775 w 16106775"/>
                <a:gd name="connsiteY2" fmla="*/ 817781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15741 w 16106775"/>
                <a:gd name="connsiteY3" fmla="*/ 763643 h 979756"/>
                <a:gd name="connsiteX4" fmla="*/ 0 w 16106775"/>
                <a:gd name="connsiteY4" fmla="*/ 0 h 979756"/>
                <a:gd name="connsiteX0" fmla="*/ 0 w 16106775"/>
                <a:gd name="connsiteY0" fmla="*/ 0 h 763643"/>
                <a:gd name="connsiteX1" fmla="*/ 16106775 w 16106775"/>
                <a:gd name="connsiteY1" fmla="*/ 0 h 763643"/>
                <a:gd name="connsiteX2" fmla="*/ 16091032 w 16106775"/>
                <a:gd name="connsiteY2" fmla="*/ 750930 h 763643"/>
                <a:gd name="connsiteX3" fmla="*/ 15741 w 16106775"/>
                <a:gd name="connsiteY3" fmla="*/ 763643 h 763643"/>
                <a:gd name="connsiteX4" fmla="*/ 0 w 16106775"/>
                <a:gd name="connsiteY4" fmla="*/ 0 h 76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06775" h="763643">
                  <a:moveTo>
                    <a:pt x="0" y="0"/>
                  </a:moveTo>
                  <a:lnTo>
                    <a:pt x="16106775" y="0"/>
                  </a:lnTo>
                  <a:lnTo>
                    <a:pt x="16091032" y="750930"/>
                  </a:lnTo>
                  <a:lnTo>
                    <a:pt x="15741" y="763643"/>
                  </a:lnTo>
                  <a:lnTo>
                    <a:pt x="0" y="0"/>
                  </a:lnTo>
                  <a:close/>
                </a:path>
              </a:pathLst>
            </a:custGeom>
            <a:solidFill>
              <a:srgbClr val="C00000"/>
            </a:solidFill>
            <a:ln w="12700" cmpd="sng">
              <a:solidFill>
                <a:srgbClr val="CA0202"/>
              </a:solidFill>
            </a:ln>
          </p:spPr>
          <p:txBody>
            <a:bodyPr wrap="square">
              <a:spAutoFit/>
            </a:bodyPr>
            <a:lstStyle/>
            <a:p>
              <a:pPr algn="ctr">
                <a:defRPr/>
              </a:pPr>
              <a:r>
                <a:rPr lang="en-US" sz="4300" baseline="0" dirty="0">
                  <a:solidFill>
                    <a:schemeClr val="bg1"/>
                  </a:solidFill>
                  <a:latin typeface="Arial" charset="0"/>
                  <a:ea typeface="ＭＳ Ｐゴシック" charset="0"/>
                  <a:cs typeface="ＭＳ Ｐゴシック" charset="0"/>
                </a:rPr>
                <a:t>Abstract</a:t>
              </a:r>
            </a:p>
          </p:txBody>
        </p:sp>
      </p:grpSp>
      <p:sp>
        <p:nvSpPr>
          <p:cNvPr id="18" name="TextBox 17">
            <a:extLst>
              <a:ext uri="{FF2B5EF4-FFF2-40B4-BE49-F238E27FC236}">
                <a16:creationId xmlns:a16="http://schemas.microsoft.com/office/drawing/2014/main" id="{CAA99AE5-C340-B856-F55D-1E603DBCC5A1}"/>
              </a:ext>
            </a:extLst>
          </p:cNvPr>
          <p:cNvSpPr txBox="1"/>
          <p:nvPr/>
        </p:nvSpPr>
        <p:spPr>
          <a:xfrm>
            <a:off x="884663" y="6593307"/>
            <a:ext cx="13307894" cy="7929023"/>
          </a:xfrm>
          <a:prstGeom prst="rect">
            <a:avLst/>
          </a:prstGeom>
          <a:noFill/>
        </p:spPr>
        <p:txBody>
          <a:bodyPr wrap="square" lIns="79925" tIns="39970" rIns="79925" bIns="39970" rtlCol="0">
            <a:spAutoFit/>
          </a:bodyPr>
          <a:lstStyle/>
          <a:p>
            <a:r>
              <a:rPr lang="en-US" sz="3400" b="0" baseline="0" dirty="0">
                <a:latin typeface="Calibri" panose="020F0502020204030204" pitchFamily="34" charset="0"/>
              </a:rPr>
              <a:t>Robotic grasping remains a challenging task </a:t>
            </a:r>
            <a:r>
              <a:rPr lang="en-US" sz="3400" dirty="0">
                <a:latin typeface="Calibri" panose="020F0502020204030204" pitchFamily="34" charset="0"/>
              </a:rPr>
              <a:t>in fields such as industrial and manufacturing automation. Classical approaches in order to solve this problem use contact mechanics theory such as force-closure and antipodal grasps which rely heavily on human-engineered features like object edges. While sound in theory, these approaches typically fail when confronted with real-world abnormalities or less-than-optimal images of the object. This project aims to address these gaps by building a robust computer vision CNN model capable of classifying 96 x 96 RGB image patches as either having viable or non-viable grasp configurations. Using the Cornell Grasp Dataset, a classical baseline will be developed along with a custom 4-block 2D CNN which is able to learn grasp features directly from the raw image pixels. These two approaches will then be evaluated against each other not only using standard metrics of performance but also with a Noise Robustness Test which will empirically demonstrate how the CNN outperforms the classical benchmark as image quality degrades.</a:t>
            </a:r>
            <a:endParaRPr lang="en-US" sz="3400" b="0" baseline="0" dirty="0">
              <a:latin typeface="Calibri" panose="020F0502020204030204" pitchFamily="34" charset="0"/>
            </a:endParaRPr>
          </a:p>
        </p:txBody>
      </p:sp>
      <p:grpSp>
        <p:nvGrpSpPr>
          <p:cNvPr id="20" name="Group 19">
            <a:extLst>
              <a:ext uri="{FF2B5EF4-FFF2-40B4-BE49-F238E27FC236}">
                <a16:creationId xmlns:a16="http://schemas.microsoft.com/office/drawing/2014/main" id="{06F41101-A074-8152-110A-6DC7C1B56900}"/>
              </a:ext>
            </a:extLst>
          </p:cNvPr>
          <p:cNvGrpSpPr/>
          <p:nvPr/>
        </p:nvGrpSpPr>
        <p:grpSpPr>
          <a:xfrm>
            <a:off x="29486880" y="18028268"/>
            <a:ext cx="13938994" cy="5059614"/>
            <a:chOff x="34856966" y="21085710"/>
            <a:chExt cx="15551755" cy="4959476"/>
          </a:xfrm>
        </p:grpSpPr>
        <p:sp>
          <p:nvSpPr>
            <p:cNvPr id="22" name="Title 1">
              <a:extLst>
                <a:ext uri="{FF2B5EF4-FFF2-40B4-BE49-F238E27FC236}">
                  <a16:creationId xmlns:a16="http://schemas.microsoft.com/office/drawing/2014/main" id="{A3A33620-932A-0D66-0A31-E6CFE132A1ED}"/>
                </a:ext>
              </a:extLst>
            </p:cNvPr>
            <p:cNvSpPr txBox="1">
              <a:spLocks/>
            </p:cNvSpPr>
            <p:nvPr/>
          </p:nvSpPr>
          <p:spPr>
            <a:xfrm>
              <a:off x="34861502" y="21085710"/>
              <a:ext cx="15547219" cy="843087"/>
            </a:xfrm>
            <a:custGeom>
              <a:avLst/>
              <a:gdLst>
                <a:gd name="connsiteX0" fmla="*/ 0 w 15547215"/>
                <a:gd name="connsiteY0" fmla="*/ 0 h 852488"/>
                <a:gd name="connsiteX1" fmla="*/ 15547215 w 15547215"/>
                <a:gd name="connsiteY1" fmla="*/ 0 h 852488"/>
                <a:gd name="connsiteX2" fmla="*/ 15547215 w 15547215"/>
                <a:gd name="connsiteY2" fmla="*/ 852488 h 852488"/>
                <a:gd name="connsiteX3" fmla="*/ 0 w 15547215"/>
                <a:gd name="connsiteY3" fmla="*/ 852488 h 852488"/>
                <a:gd name="connsiteX4" fmla="*/ 0 w 15547215"/>
                <a:gd name="connsiteY4" fmla="*/ 0 h 852488"/>
                <a:gd name="connsiteX0" fmla="*/ 0 w 15547215"/>
                <a:gd name="connsiteY0" fmla="*/ 0 h 939573"/>
                <a:gd name="connsiteX1" fmla="*/ 15547215 w 15547215"/>
                <a:gd name="connsiteY1" fmla="*/ 0 h 939573"/>
                <a:gd name="connsiteX2" fmla="*/ 15547215 w 15547215"/>
                <a:gd name="connsiteY2" fmla="*/ 852488 h 939573"/>
                <a:gd name="connsiteX3" fmla="*/ 43543 w 15547215"/>
                <a:gd name="connsiteY3" fmla="*/ 939573 h 939573"/>
                <a:gd name="connsiteX4" fmla="*/ 0 w 15547215"/>
                <a:gd name="connsiteY4" fmla="*/ 0 h 939573"/>
                <a:gd name="connsiteX0" fmla="*/ 0 w 15547215"/>
                <a:gd name="connsiteY0" fmla="*/ 0 h 939574"/>
                <a:gd name="connsiteX1" fmla="*/ 15547215 w 15547215"/>
                <a:gd name="connsiteY1" fmla="*/ 0 h 939574"/>
                <a:gd name="connsiteX2" fmla="*/ 15547215 w 15547215"/>
                <a:gd name="connsiteY2" fmla="*/ 939574 h 939574"/>
                <a:gd name="connsiteX3" fmla="*/ 43543 w 15547215"/>
                <a:gd name="connsiteY3" fmla="*/ 939573 h 939574"/>
                <a:gd name="connsiteX4" fmla="*/ 0 w 15547215"/>
                <a:gd name="connsiteY4" fmla="*/ 0 h 939574"/>
                <a:gd name="connsiteX0" fmla="*/ 0 w 15547215"/>
                <a:gd name="connsiteY0" fmla="*/ 0 h 939574"/>
                <a:gd name="connsiteX1" fmla="*/ 15547215 w 15547215"/>
                <a:gd name="connsiteY1" fmla="*/ 0 h 939574"/>
                <a:gd name="connsiteX2" fmla="*/ 15547215 w 15547215"/>
                <a:gd name="connsiteY2" fmla="*/ 939574 h 939574"/>
                <a:gd name="connsiteX3" fmla="*/ 0 w 15547215"/>
                <a:gd name="connsiteY3" fmla="*/ 939573 h 939574"/>
                <a:gd name="connsiteX4" fmla="*/ 0 w 15547215"/>
                <a:gd name="connsiteY4" fmla="*/ 0 h 939574"/>
                <a:gd name="connsiteX0" fmla="*/ 0 w 15547215"/>
                <a:gd name="connsiteY0" fmla="*/ 0 h 939574"/>
                <a:gd name="connsiteX1" fmla="*/ 15547215 w 15547215"/>
                <a:gd name="connsiteY1" fmla="*/ 0 h 939574"/>
                <a:gd name="connsiteX2" fmla="*/ 15547215 w 15547215"/>
                <a:gd name="connsiteY2" fmla="*/ 939574 h 939574"/>
                <a:gd name="connsiteX3" fmla="*/ 0 w 15547215"/>
                <a:gd name="connsiteY3" fmla="*/ 810928 h 939574"/>
                <a:gd name="connsiteX4" fmla="*/ 0 w 15547215"/>
                <a:gd name="connsiteY4" fmla="*/ 0 h 939574"/>
                <a:gd name="connsiteX0" fmla="*/ 0 w 15547215"/>
                <a:gd name="connsiteY0" fmla="*/ 0 h 810928"/>
                <a:gd name="connsiteX1" fmla="*/ 15547215 w 15547215"/>
                <a:gd name="connsiteY1" fmla="*/ 0 h 810928"/>
                <a:gd name="connsiteX2" fmla="*/ 15547215 w 15547215"/>
                <a:gd name="connsiteY2" fmla="*/ 762686 h 810928"/>
                <a:gd name="connsiteX3" fmla="*/ 0 w 15547215"/>
                <a:gd name="connsiteY3" fmla="*/ 810928 h 810928"/>
                <a:gd name="connsiteX4" fmla="*/ 0 w 15547215"/>
                <a:gd name="connsiteY4" fmla="*/ 0 h 810928"/>
                <a:gd name="connsiteX0" fmla="*/ 0 w 15547215"/>
                <a:gd name="connsiteY0" fmla="*/ 0 h 827010"/>
                <a:gd name="connsiteX1" fmla="*/ 15547215 w 15547215"/>
                <a:gd name="connsiteY1" fmla="*/ 0 h 827010"/>
                <a:gd name="connsiteX2" fmla="*/ 15547215 w 15547215"/>
                <a:gd name="connsiteY2" fmla="*/ 827010 h 827010"/>
                <a:gd name="connsiteX3" fmla="*/ 0 w 15547215"/>
                <a:gd name="connsiteY3" fmla="*/ 810928 h 827010"/>
                <a:gd name="connsiteX4" fmla="*/ 0 w 15547215"/>
                <a:gd name="connsiteY4" fmla="*/ 0 h 827010"/>
                <a:gd name="connsiteX0" fmla="*/ 0 w 15547215"/>
                <a:gd name="connsiteY0" fmla="*/ 0 h 810928"/>
                <a:gd name="connsiteX1" fmla="*/ 15547215 w 15547215"/>
                <a:gd name="connsiteY1" fmla="*/ 0 h 810928"/>
                <a:gd name="connsiteX2" fmla="*/ 15547215 w 15547215"/>
                <a:gd name="connsiteY2" fmla="*/ 778767 h 810928"/>
                <a:gd name="connsiteX3" fmla="*/ 0 w 15547215"/>
                <a:gd name="connsiteY3" fmla="*/ 810928 h 810928"/>
                <a:gd name="connsiteX4" fmla="*/ 0 w 15547215"/>
                <a:gd name="connsiteY4" fmla="*/ 0 h 810928"/>
                <a:gd name="connsiteX0" fmla="*/ 0 w 15547215"/>
                <a:gd name="connsiteY0" fmla="*/ 0 h 843091"/>
                <a:gd name="connsiteX1" fmla="*/ 15547215 w 15547215"/>
                <a:gd name="connsiteY1" fmla="*/ 0 h 843091"/>
                <a:gd name="connsiteX2" fmla="*/ 15547215 w 15547215"/>
                <a:gd name="connsiteY2" fmla="*/ 843091 h 843091"/>
                <a:gd name="connsiteX3" fmla="*/ 0 w 15547215"/>
                <a:gd name="connsiteY3" fmla="*/ 810928 h 843091"/>
                <a:gd name="connsiteX4" fmla="*/ 0 w 15547215"/>
                <a:gd name="connsiteY4" fmla="*/ 0 h 84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47215" h="843091">
                  <a:moveTo>
                    <a:pt x="0" y="0"/>
                  </a:moveTo>
                  <a:lnTo>
                    <a:pt x="15547215" y="0"/>
                  </a:lnTo>
                  <a:lnTo>
                    <a:pt x="15547215" y="843091"/>
                  </a:lnTo>
                  <a:lnTo>
                    <a:pt x="0" y="810928"/>
                  </a:lnTo>
                  <a:lnTo>
                    <a:pt x="0" y="0"/>
                  </a:lnTo>
                  <a:close/>
                </a:path>
              </a:pathLst>
            </a:custGeom>
            <a:solidFill>
              <a:srgbClr val="C00000"/>
            </a:solidFill>
          </p:spPr>
          <p:txBody>
            <a:bodyPr/>
            <a:lstStyle>
              <a:lvl1pPr eaLnBrk="0" hangingPunct="0">
                <a:defRPr sz="4000" b="1" baseline="-25000">
                  <a:solidFill>
                    <a:schemeClr val="tx1"/>
                  </a:solidFill>
                  <a:latin typeface="Arial" pitchFamily="34" charset="0"/>
                  <a:ea typeface="MS PGothic" pitchFamily="34" charset="-128"/>
                </a:defRPr>
              </a:lvl1pPr>
              <a:lvl2pPr marL="742950" indent="-285750" eaLnBrk="0" hangingPunct="0">
                <a:defRPr sz="4000" b="1" baseline="-25000">
                  <a:solidFill>
                    <a:schemeClr val="tx1"/>
                  </a:solidFill>
                  <a:latin typeface="Arial" pitchFamily="34" charset="0"/>
                  <a:ea typeface="MS PGothic" pitchFamily="34" charset="-128"/>
                </a:defRPr>
              </a:lvl2pPr>
              <a:lvl3pPr marL="1143000" indent="-228600" eaLnBrk="0" hangingPunct="0">
                <a:defRPr sz="4000" b="1" baseline="-25000">
                  <a:solidFill>
                    <a:schemeClr val="tx1"/>
                  </a:solidFill>
                  <a:latin typeface="Arial" pitchFamily="34" charset="0"/>
                  <a:ea typeface="MS PGothic" pitchFamily="34" charset="-128"/>
                </a:defRPr>
              </a:lvl3pPr>
              <a:lvl4pPr marL="1600200" indent="-228600" eaLnBrk="0" hangingPunct="0">
                <a:defRPr sz="4000" b="1" baseline="-25000">
                  <a:solidFill>
                    <a:schemeClr val="tx1"/>
                  </a:solidFill>
                  <a:latin typeface="Arial" pitchFamily="34" charset="0"/>
                  <a:ea typeface="MS PGothic" pitchFamily="34" charset="-128"/>
                </a:defRPr>
              </a:lvl4pPr>
              <a:lvl5pPr marL="2057400" indent="-228600" eaLnBrk="0" hangingPunct="0">
                <a:defRPr sz="4000" b="1" baseline="-250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a:r>
                <a:rPr lang="en-US" sz="4300" baseline="0" dirty="0">
                  <a:solidFill>
                    <a:schemeClr val="bg1"/>
                  </a:solidFill>
                </a:rPr>
                <a:t>Key Takeaways</a:t>
              </a:r>
            </a:p>
          </p:txBody>
        </p:sp>
        <p:sp>
          <p:nvSpPr>
            <p:cNvPr id="23" name="Rectangle 36">
              <a:extLst>
                <a:ext uri="{FF2B5EF4-FFF2-40B4-BE49-F238E27FC236}">
                  <a16:creationId xmlns:a16="http://schemas.microsoft.com/office/drawing/2014/main" id="{640A3CE0-A779-F478-45DE-3E1DB7D657F3}"/>
                </a:ext>
              </a:extLst>
            </p:cNvPr>
            <p:cNvSpPr>
              <a:spLocks noChangeArrowheads="1"/>
            </p:cNvSpPr>
            <p:nvPr/>
          </p:nvSpPr>
          <p:spPr bwMode="auto">
            <a:xfrm>
              <a:off x="34856966" y="21137270"/>
              <a:ext cx="15544800" cy="4907916"/>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aseline="0"/>
            </a:p>
          </p:txBody>
        </p:sp>
      </p:grpSp>
      <p:grpSp>
        <p:nvGrpSpPr>
          <p:cNvPr id="24" name="Group 23">
            <a:extLst>
              <a:ext uri="{FF2B5EF4-FFF2-40B4-BE49-F238E27FC236}">
                <a16:creationId xmlns:a16="http://schemas.microsoft.com/office/drawing/2014/main" id="{28996AA6-8699-8AD3-28A9-862767B7F359}"/>
              </a:ext>
            </a:extLst>
          </p:cNvPr>
          <p:cNvGrpSpPr/>
          <p:nvPr/>
        </p:nvGrpSpPr>
        <p:grpSpPr>
          <a:xfrm>
            <a:off x="512848" y="19006951"/>
            <a:ext cx="13931037" cy="13454250"/>
            <a:chOff x="1184910" y="17151378"/>
            <a:chExt cx="16145988" cy="13487400"/>
          </a:xfrm>
        </p:grpSpPr>
        <p:sp>
          <p:nvSpPr>
            <p:cNvPr id="25" name="Rectangle 20">
              <a:extLst>
                <a:ext uri="{FF2B5EF4-FFF2-40B4-BE49-F238E27FC236}">
                  <a16:creationId xmlns:a16="http://schemas.microsoft.com/office/drawing/2014/main" id="{A8E49E69-69A6-7E0B-C105-F005C0B79A7B}"/>
                </a:ext>
              </a:extLst>
            </p:cNvPr>
            <p:cNvSpPr>
              <a:spLocks noChangeArrowheads="1"/>
            </p:cNvSpPr>
            <p:nvPr/>
          </p:nvSpPr>
          <p:spPr bwMode="auto">
            <a:xfrm>
              <a:off x="1194480" y="17151378"/>
              <a:ext cx="16078200" cy="13487400"/>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aseline="0"/>
            </a:p>
          </p:txBody>
        </p:sp>
        <p:sp>
          <p:nvSpPr>
            <p:cNvPr id="26" name="Rectangle 69">
              <a:extLst>
                <a:ext uri="{FF2B5EF4-FFF2-40B4-BE49-F238E27FC236}">
                  <a16:creationId xmlns:a16="http://schemas.microsoft.com/office/drawing/2014/main" id="{8B2EFFFD-F3C7-1930-A9ED-A7F105B77767}"/>
                </a:ext>
              </a:extLst>
            </p:cNvPr>
            <p:cNvSpPr/>
            <p:nvPr/>
          </p:nvSpPr>
          <p:spPr>
            <a:xfrm>
              <a:off x="1184910" y="17151378"/>
              <a:ext cx="16145988" cy="755911"/>
            </a:xfrm>
            <a:custGeom>
              <a:avLst/>
              <a:gdLst>
                <a:gd name="connsiteX0" fmla="*/ 0 w 16078200"/>
                <a:gd name="connsiteY0" fmla="*/ 0 h 671050"/>
                <a:gd name="connsiteX1" fmla="*/ 16078200 w 16078200"/>
                <a:gd name="connsiteY1" fmla="*/ 0 h 671050"/>
                <a:gd name="connsiteX2" fmla="*/ 16078200 w 16078200"/>
                <a:gd name="connsiteY2" fmla="*/ 671050 h 671050"/>
                <a:gd name="connsiteX3" fmla="*/ 0 w 16078200"/>
                <a:gd name="connsiteY3" fmla="*/ 671050 h 671050"/>
                <a:gd name="connsiteX4" fmla="*/ 0 w 16078200"/>
                <a:gd name="connsiteY4" fmla="*/ 0 h 671050"/>
                <a:gd name="connsiteX0" fmla="*/ 0 w 16106775"/>
                <a:gd name="connsiteY0" fmla="*/ 0 h 871075"/>
                <a:gd name="connsiteX1" fmla="*/ 16078200 w 16106775"/>
                <a:gd name="connsiteY1" fmla="*/ 0 h 871075"/>
                <a:gd name="connsiteX2" fmla="*/ 16106775 w 16106775"/>
                <a:gd name="connsiteY2" fmla="*/ 871075 h 871075"/>
                <a:gd name="connsiteX3" fmla="*/ 0 w 16106775"/>
                <a:gd name="connsiteY3" fmla="*/ 671050 h 871075"/>
                <a:gd name="connsiteX4" fmla="*/ 0 w 16106775"/>
                <a:gd name="connsiteY4" fmla="*/ 0 h 871075"/>
                <a:gd name="connsiteX0" fmla="*/ 0 w 16106775"/>
                <a:gd name="connsiteY0" fmla="*/ 0 h 871075"/>
                <a:gd name="connsiteX1" fmla="*/ 16078200 w 16106775"/>
                <a:gd name="connsiteY1" fmla="*/ 0 h 871075"/>
                <a:gd name="connsiteX2" fmla="*/ 16106775 w 16106775"/>
                <a:gd name="connsiteY2" fmla="*/ 871075 h 871075"/>
                <a:gd name="connsiteX3" fmla="*/ 57150 w 16106775"/>
                <a:gd name="connsiteY3" fmla="*/ 813925 h 871075"/>
                <a:gd name="connsiteX4" fmla="*/ 0 w 16106775"/>
                <a:gd name="connsiteY4" fmla="*/ 0 h 871075"/>
                <a:gd name="connsiteX0" fmla="*/ 0 w 16163925"/>
                <a:gd name="connsiteY0" fmla="*/ 0 h 1140653"/>
                <a:gd name="connsiteX1" fmla="*/ 16078200 w 16163925"/>
                <a:gd name="connsiteY1" fmla="*/ 0 h 1140653"/>
                <a:gd name="connsiteX2" fmla="*/ 16163925 w 16163925"/>
                <a:gd name="connsiteY2" fmla="*/ 1140653 h 1140653"/>
                <a:gd name="connsiteX3" fmla="*/ 57150 w 16163925"/>
                <a:gd name="connsiteY3" fmla="*/ 813925 h 1140653"/>
                <a:gd name="connsiteX4" fmla="*/ 0 w 16163925"/>
                <a:gd name="connsiteY4" fmla="*/ 0 h 1140653"/>
                <a:gd name="connsiteX0" fmla="*/ 0 w 16163925"/>
                <a:gd name="connsiteY0" fmla="*/ 0 h 1140653"/>
                <a:gd name="connsiteX1" fmla="*/ 16078200 w 16163925"/>
                <a:gd name="connsiteY1" fmla="*/ 0 h 1140653"/>
                <a:gd name="connsiteX2" fmla="*/ 16163925 w 16163925"/>
                <a:gd name="connsiteY2" fmla="*/ 1140653 h 1140653"/>
                <a:gd name="connsiteX3" fmla="*/ 57150 w 16163925"/>
                <a:gd name="connsiteY3" fmla="*/ 1122014 h 1140653"/>
                <a:gd name="connsiteX4" fmla="*/ 0 w 16163925"/>
                <a:gd name="connsiteY4" fmla="*/ 0 h 1140653"/>
                <a:gd name="connsiteX0" fmla="*/ 0 w 16078200"/>
                <a:gd name="connsiteY0" fmla="*/ 0 h 1140653"/>
                <a:gd name="connsiteX1" fmla="*/ 16078200 w 16078200"/>
                <a:gd name="connsiteY1" fmla="*/ 0 h 1140653"/>
                <a:gd name="connsiteX2" fmla="*/ 16078200 w 16078200"/>
                <a:gd name="connsiteY2" fmla="*/ 1140653 h 1140653"/>
                <a:gd name="connsiteX3" fmla="*/ 57150 w 16078200"/>
                <a:gd name="connsiteY3" fmla="*/ 1122014 h 1140653"/>
                <a:gd name="connsiteX4" fmla="*/ 0 w 16078200"/>
                <a:gd name="connsiteY4" fmla="*/ 0 h 1140653"/>
                <a:gd name="connsiteX0" fmla="*/ 0 w 16078200"/>
                <a:gd name="connsiteY0" fmla="*/ 0 h 1140653"/>
                <a:gd name="connsiteX1" fmla="*/ 16078200 w 16078200"/>
                <a:gd name="connsiteY1" fmla="*/ 0 h 1140653"/>
                <a:gd name="connsiteX2" fmla="*/ 16078200 w 16078200"/>
                <a:gd name="connsiteY2" fmla="*/ 1140653 h 1140653"/>
                <a:gd name="connsiteX3" fmla="*/ 57150 w 16078200"/>
                <a:gd name="connsiteY3" fmla="*/ 1122014 h 1140653"/>
                <a:gd name="connsiteX4" fmla="*/ 0 w 16078200"/>
                <a:gd name="connsiteY4" fmla="*/ 0 h 1140653"/>
                <a:gd name="connsiteX0" fmla="*/ 0 w 16078200"/>
                <a:gd name="connsiteY0" fmla="*/ 0 h 1347939"/>
                <a:gd name="connsiteX1" fmla="*/ 16078200 w 16078200"/>
                <a:gd name="connsiteY1" fmla="*/ 0 h 1347939"/>
                <a:gd name="connsiteX2" fmla="*/ 16078200 w 16078200"/>
                <a:gd name="connsiteY2" fmla="*/ 1140653 h 1347939"/>
                <a:gd name="connsiteX3" fmla="*/ 118110 w 16078200"/>
                <a:gd name="connsiteY3" fmla="*/ 1347939 h 1347939"/>
                <a:gd name="connsiteX4" fmla="*/ 0 w 16078200"/>
                <a:gd name="connsiteY4" fmla="*/ 0 h 1347939"/>
                <a:gd name="connsiteX0" fmla="*/ 0 w 16078200"/>
                <a:gd name="connsiteY0" fmla="*/ 0 h 1411763"/>
                <a:gd name="connsiteX1" fmla="*/ 16078200 w 16078200"/>
                <a:gd name="connsiteY1" fmla="*/ 0 h 1411763"/>
                <a:gd name="connsiteX2" fmla="*/ 16047720 w 16078200"/>
                <a:gd name="connsiteY2" fmla="*/ 1411763 h 1411763"/>
                <a:gd name="connsiteX3" fmla="*/ 118110 w 16078200"/>
                <a:gd name="connsiteY3" fmla="*/ 1347939 h 1411763"/>
                <a:gd name="connsiteX4" fmla="*/ 0 w 16078200"/>
                <a:gd name="connsiteY4" fmla="*/ 0 h 1411763"/>
                <a:gd name="connsiteX0" fmla="*/ 3810 w 16082010"/>
                <a:gd name="connsiteY0" fmla="*/ 0 h 1411763"/>
                <a:gd name="connsiteX1" fmla="*/ 16082010 w 16082010"/>
                <a:gd name="connsiteY1" fmla="*/ 0 h 1411763"/>
                <a:gd name="connsiteX2" fmla="*/ 16051530 w 16082010"/>
                <a:gd name="connsiteY2" fmla="*/ 1411763 h 1411763"/>
                <a:gd name="connsiteX3" fmla="*/ 0 w 16082010"/>
                <a:gd name="connsiteY3" fmla="*/ 1393124 h 1411763"/>
                <a:gd name="connsiteX4" fmla="*/ 3810 w 16082010"/>
                <a:gd name="connsiteY4" fmla="*/ 0 h 1411763"/>
                <a:gd name="connsiteX0" fmla="*/ 3810 w 16112490"/>
                <a:gd name="connsiteY0" fmla="*/ 0 h 1502133"/>
                <a:gd name="connsiteX1" fmla="*/ 16082010 w 16112490"/>
                <a:gd name="connsiteY1" fmla="*/ 0 h 1502133"/>
                <a:gd name="connsiteX2" fmla="*/ 16112490 w 16112490"/>
                <a:gd name="connsiteY2" fmla="*/ 1502133 h 1502133"/>
                <a:gd name="connsiteX3" fmla="*/ 0 w 16112490"/>
                <a:gd name="connsiteY3" fmla="*/ 1393124 h 1502133"/>
                <a:gd name="connsiteX4" fmla="*/ 3810 w 16112490"/>
                <a:gd name="connsiteY4" fmla="*/ 0 h 1502133"/>
                <a:gd name="connsiteX0" fmla="*/ 3810 w 16112490"/>
                <a:gd name="connsiteY0" fmla="*/ 0 h 1623345"/>
                <a:gd name="connsiteX1" fmla="*/ 16082010 w 16112490"/>
                <a:gd name="connsiteY1" fmla="*/ 0 h 1623345"/>
                <a:gd name="connsiteX2" fmla="*/ 16112490 w 16112490"/>
                <a:gd name="connsiteY2" fmla="*/ 1502133 h 1623345"/>
                <a:gd name="connsiteX3" fmla="*/ 0 w 16112490"/>
                <a:gd name="connsiteY3" fmla="*/ 1623345 h 1623345"/>
                <a:gd name="connsiteX4" fmla="*/ 3810 w 16112490"/>
                <a:gd name="connsiteY4" fmla="*/ 0 h 1623345"/>
                <a:gd name="connsiteX0" fmla="*/ 3810 w 16112490"/>
                <a:gd name="connsiteY0" fmla="*/ 0 h 1787789"/>
                <a:gd name="connsiteX1" fmla="*/ 16082010 w 16112490"/>
                <a:gd name="connsiteY1" fmla="*/ 0 h 1787789"/>
                <a:gd name="connsiteX2" fmla="*/ 16112490 w 16112490"/>
                <a:gd name="connsiteY2" fmla="*/ 1502133 h 1787789"/>
                <a:gd name="connsiteX3" fmla="*/ 0 w 16112490"/>
                <a:gd name="connsiteY3" fmla="*/ 1787789 h 1787789"/>
                <a:gd name="connsiteX4" fmla="*/ 3810 w 16112490"/>
                <a:gd name="connsiteY4" fmla="*/ 0 h 1787789"/>
                <a:gd name="connsiteX0" fmla="*/ 3810 w 16126292"/>
                <a:gd name="connsiteY0" fmla="*/ 0 h 1787789"/>
                <a:gd name="connsiteX1" fmla="*/ 16082010 w 16126292"/>
                <a:gd name="connsiteY1" fmla="*/ 0 h 1787789"/>
                <a:gd name="connsiteX2" fmla="*/ 16126292 w 16126292"/>
                <a:gd name="connsiteY2" fmla="*/ 1765243 h 1787789"/>
                <a:gd name="connsiteX3" fmla="*/ 0 w 16126292"/>
                <a:gd name="connsiteY3" fmla="*/ 1787789 h 1787789"/>
                <a:gd name="connsiteX4" fmla="*/ 3810 w 16126292"/>
                <a:gd name="connsiteY4" fmla="*/ 0 h 1787789"/>
                <a:gd name="connsiteX0" fmla="*/ 3810 w 16098689"/>
                <a:gd name="connsiteY0" fmla="*/ 0 h 1798132"/>
                <a:gd name="connsiteX1" fmla="*/ 16082010 w 16098689"/>
                <a:gd name="connsiteY1" fmla="*/ 0 h 1798132"/>
                <a:gd name="connsiteX2" fmla="*/ 16098689 w 16098689"/>
                <a:gd name="connsiteY2" fmla="*/ 1798132 h 1798132"/>
                <a:gd name="connsiteX3" fmla="*/ 0 w 16098689"/>
                <a:gd name="connsiteY3" fmla="*/ 1787789 h 1798132"/>
                <a:gd name="connsiteX4" fmla="*/ 3810 w 16098689"/>
                <a:gd name="connsiteY4" fmla="*/ 0 h 1798132"/>
                <a:gd name="connsiteX0" fmla="*/ 3810 w 16082010"/>
                <a:gd name="connsiteY0" fmla="*/ 0 h 1798132"/>
                <a:gd name="connsiteX1" fmla="*/ 16082010 w 16082010"/>
                <a:gd name="connsiteY1" fmla="*/ 0 h 1798132"/>
                <a:gd name="connsiteX2" fmla="*/ 16071086 w 16082010"/>
                <a:gd name="connsiteY2" fmla="*/ 1798132 h 1798132"/>
                <a:gd name="connsiteX3" fmla="*/ 0 w 16082010"/>
                <a:gd name="connsiteY3" fmla="*/ 1787789 h 1798132"/>
                <a:gd name="connsiteX4" fmla="*/ 3810 w 16082010"/>
                <a:gd name="connsiteY4" fmla="*/ 0 h 1798132"/>
                <a:gd name="connsiteX0" fmla="*/ 3810 w 16085689"/>
                <a:gd name="connsiteY0" fmla="*/ 0 h 1798132"/>
                <a:gd name="connsiteX1" fmla="*/ 16082010 w 16085689"/>
                <a:gd name="connsiteY1" fmla="*/ 0 h 1798132"/>
                <a:gd name="connsiteX2" fmla="*/ 16084888 w 16085689"/>
                <a:gd name="connsiteY2" fmla="*/ 1798132 h 1798132"/>
                <a:gd name="connsiteX3" fmla="*/ 0 w 16085689"/>
                <a:gd name="connsiteY3" fmla="*/ 1787789 h 1798132"/>
                <a:gd name="connsiteX4" fmla="*/ 3810 w 16085689"/>
                <a:gd name="connsiteY4" fmla="*/ 0 h 17981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85689" h="1798132">
                  <a:moveTo>
                    <a:pt x="3810" y="0"/>
                  </a:moveTo>
                  <a:lnTo>
                    <a:pt x="16082010" y="0"/>
                  </a:lnTo>
                  <a:cubicBezTo>
                    <a:pt x="16078369" y="599377"/>
                    <a:pt x="16088529" y="1198755"/>
                    <a:pt x="16084888" y="1798132"/>
                  </a:cubicBezTo>
                  <a:lnTo>
                    <a:pt x="0" y="1787789"/>
                  </a:lnTo>
                  <a:lnTo>
                    <a:pt x="3810" y="0"/>
                  </a:lnTo>
                  <a:close/>
                </a:path>
              </a:pathLst>
            </a:custGeom>
            <a:solidFill>
              <a:srgbClr val="C00000"/>
            </a:solidFill>
          </p:spPr>
          <p:txBody>
            <a:bodyPr wrap="square">
              <a:spAutoFit/>
            </a:bodyPr>
            <a:lstStyle/>
            <a:p>
              <a:pPr algn="ctr">
                <a:defRPr/>
              </a:pPr>
              <a:r>
                <a:rPr lang="en-US" sz="4300" baseline="0" dirty="0">
                  <a:solidFill>
                    <a:schemeClr val="bg1"/>
                  </a:solidFill>
                  <a:latin typeface="Arial" charset="0"/>
                  <a:ea typeface="ＭＳ Ｐゴシック" charset="0"/>
                  <a:cs typeface="ＭＳ Ｐゴシック" charset="0"/>
                </a:rPr>
                <a:t>Problem Definition</a:t>
              </a:r>
            </a:p>
          </p:txBody>
        </p:sp>
      </p:grpSp>
      <p:grpSp>
        <p:nvGrpSpPr>
          <p:cNvPr id="27" name="Group 26">
            <a:extLst>
              <a:ext uri="{FF2B5EF4-FFF2-40B4-BE49-F238E27FC236}">
                <a16:creationId xmlns:a16="http://schemas.microsoft.com/office/drawing/2014/main" id="{4266CF0E-E516-F421-3BB3-47B55BD50B27}"/>
              </a:ext>
            </a:extLst>
          </p:cNvPr>
          <p:cNvGrpSpPr/>
          <p:nvPr/>
        </p:nvGrpSpPr>
        <p:grpSpPr>
          <a:xfrm>
            <a:off x="29486880" y="5497671"/>
            <a:ext cx="13941159" cy="12172185"/>
            <a:chOff x="34807225" y="6557962"/>
            <a:chExt cx="15563392" cy="14020800"/>
          </a:xfrm>
        </p:grpSpPr>
        <p:sp>
          <p:nvSpPr>
            <p:cNvPr id="28" name="Rectangle 34">
              <a:extLst>
                <a:ext uri="{FF2B5EF4-FFF2-40B4-BE49-F238E27FC236}">
                  <a16:creationId xmlns:a16="http://schemas.microsoft.com/office/drawing/2014/main" id="{E35634AB-7B3A-0DD6-B889-779C71731591}"/>
                </a:ext>
              </a:extLst>
            </p:cNvPr>
            <p:cNvSpPr>
              <a:spLocks noChangeArrowheads="1"/>
            </p:cNvSpPr>
            <p:nvPr/>
          </p:nvSpPr>
          <p:spPr bwMode="auto">
            <a:xfrm>
              <a:off x="34823400" y="6557962"/>
              <a:ext cx="15544800" cy="14020800"/>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aseline="0"/>
            </a:p>
          </p:txBody>
        </p:sp>
        <p:sp>
          <p:nvSpPr>
            <p:cNvPr id="29" name="Rectangle 8">
              <a:extLst>
                <a:ext uri="{FF2B5EF4-FFF2-40B4-BE49-F238E27FC236}">
                  <a16:creationId xmlns:a16="http://schemas.microsoft.com/office/drawing/2014/main" id="{18151A8F-F174-BB49-2FD0-F6276D5BF4C3}"/>
                </a:ext>
              </a:extLst>
            </p:cNvPr>
            <p:cNvSpPr/>
            <p:nvPr/>
          </p:nvSpPr>
          <p:spPr>
            <a:xfrm>
              <a:off x="34807225" y="6557968"/>
              <a:ext cx="15563392" cy="868573"/>
            </a:xfrm>
            <a:custGeom>
              <a:avLst/>
              <a:gdLst>
                <a:gd name="connsiteX0" fmla="*/ 0 w 16230600"/>
                <a:gd name="connsiteY0" fmla="*/ 0 h 646331"/>
                <a:gd name="connsiteX1" fmla="*/ 16230600 w 16230600"/>
                <a:gd name="connsiteY1" fmla="*/ 0 h 646331"/>
                <a:gd name="connsiteX2" fmla="*/ 16230600 w 16230600"/>
                <a:gd name="connsiteY2" fmla="*/ 646331 h 646331"/>
                <a:gd name="connsiteX3" fmla="*/ 0 w 16230600"/>
                <a:gd name="connsiteY3" fmla="*/ 646331 h 646331"/>
                <a:gd name="connsiteX4" fmla="*/ 0 w 16230600"/>
                <a:gd name="connsiteY4" fmla="*/ 0 h 646331"/>
                <a:gd name="connsiteX0" fmla="*/ 0 w 16230600"/>
                <a:gd name="connsiteY0" fmla="*/ 0 h 817781"/>
                <a:gd name="connsiteX1" fmla="*/ 16230600 w 16230600"/>
                <a:gd name="connsiteY1" fmla="*/ 0 h 817781"/>
                <a:gd name="connsiteX2" fmla="*/ 16230600 w 16230600"/>
                <a:gd name="connsiteY2" fmla="*/ 646331 h 817781"/>
                <a:gd name="connsiteX3" fmla="*/ 57150 w 16230600"/>
                <a:gd name="connsiteY3" fmla="*/ 817781 h 817781"/>
                <a:gd name="connsiteX4" fmla="*/ 0 w 16230600"/>
                <a:gd name="connsiteY4" fmla="*/ 0 h 817781"/>
                <a:gd name="connsiteX0" fmla="*/ 0 w 16230600"/>
                <a:gd name="connsiteY0" fmla="*/ 0 h 846356"/>
                <a:gd name="connsiteX1" fmla="*/ 16230600 w 16230600"/>
                <a:gd name="connsiteY1" fmla="*/ 0 h 846356"/>
                <a:gd name="connsiteX2" fmla="*/ 16202025 w 16230600"/>
                <a:gd name="connsiteY2" fmla="*/ 846356 h 846356"/>
                <a:gd name="connsiteX3" fmla="*/ 57150 w 16230600"/>
                <a:gd name="connsiteY3" fmla="*/ 817781 h 846356"/>
                <a:gd name="connsiteX4" fmla="*/ 0 w 16230600"/>
                <a:gd name="connsiteY4" fmla="*/ 0 h 846356"/>
                <a:gd name="connsiteX0" fmla="*/ 0 w 16230600"/>
                <a:gd name="connsiteY0" fmla="*/ 0 h 932081"/>
                <a:gd name="connsiteX1" fmla="*/ 16230600 w 16230600"/>
                <a:gd name="connsiteY1" fmla="*/ 0 h 932081"/>
                <a:gd name="connsiteX2" fmla="*/ 16202025 w 16230600"/>
                <a:gd name="connsiteY2" fmla="*/ 846356 h 932081"/>
                <a:gd name="connsiteX3" fmla="*/ 0 w 16230600"/>
                <a:gd name="connsiteY3" fmla="*/ 932081 h 932081"/>
                <a:gd name="connsiteX4" fmla="*/ 0 w 16230600"/>
                <a:gd name="connsiteY4" fmla="*/ 0 h 932081"/>
                <a:gd name="connsiteX0" fmla="*/ 0 w 16230600"/>
                <a:gd name="connsiteY0" fmla="*/ 0 h 960656"/>
                <a:gd name="connsiteX1" fmla="*/ 16230600 w 16230600"/>
                <a:gd name="connsiteY1" fmla="*/ 0 h 960656"/>
                <a:gd name="connsiteX2" fmla="*/ 16202025 w 16230600"/>
                <a:gd name="connsiteY2" fmla="*/ 960656 h 960656"/>
                <a:gd name="connsiteX3" fmla="*/ 0 w 16230600"/>
                <a:gd name="connsiteY3" fmla="*/ 932081 h 960656"/>
                <a:gd name="connsiteX4" fmla="*/ 0 w 16230600"/>
                <a:gd name="connsiteY4" fmla="*/ 0 h 960656"/>
                <a:gd name="connsiteX0" fmla="*/ 0 w 16230600"/>
                <a:gd name="connsiteY0" fmla="*/ 0 h 1229383"/>
                <a:gd name="connsiteX1" fmla="*/ 16230600 w 16230600"/>
                <a:gd name="connsiteY1" fmla="*/ 0 h 1229383"/>
                <a:gd name="connsiteX2" fmla="*/ 16202025 w 16230600"/>
                <a:gd name="connsiteY2" fmla="*/ 960656 h 1229383"/>
                <a:gd name="connsiteX3" fmla="*/ 28575 w 16230600"/>
                <a:gd name="connsiteY3" fmla="*/ 1229383 h 1229383"/>
                <a:gd name="connsiteX4" fmla="*/ 0 w 16230600"/>
                <a:gd name="connsiteY4" fmla="*/ 0 h 1229383"/>
                <a:gd name="connsiteX0" fmla="*/ 0 w 16230600"/>
                <a:gd name="connsiteY0" fmla="*/ 0 h 1257958"/>
                <a:gd name="connsiteX1" fmla="*/ 16230600 w 16230600"/>
                <a:gd name="connsiteY1" fmla="*/ 0 h 1257958"/>
                <a:gd name="connsiteX2" fmla="*/ 16173450 w 16230600"/>
                <a:gd name="connsiteY2" fmla="*/ 1257958 h 1257958"/>
                <a:gd name="connsiteX3" fmla="*/ 28575 w 16230600"/>
                <a:gd name="connsiteY3" fmla="*/ 1229383 h 1257958"/>
                <a:gd name="connsiteX4" fmla="*/ 0 w 16230600"/>
                <a:gd name="connsiteY4" fmla="*/ 0 h 1257958"/>
                <a:gd name="connsiteX0" fmla="*/ 0 w 16230600"/>
                <a:gd name="connsiteY0" fmla="*/ 0 h 1618692"/>
                <a:gd name="connsiteX1" fmla="*/ 16230600 w 16230600"/>
                <a:gd name="connsiteY1" fmla="*/ 0 h 1618692"/>
                <a:gd name="connsiteX2" fmla="*/ 16173450 w 16230600"/>
                <a:gd name="connsiteY2" fmla="*/ 1257958 h 1618692"/>
                <a:gd name="connsiteX3" fmla="*/ 28575 w 16230600"/>
                <a:gd name="connsiteY3" fmla="*/ 1618692 h 1618692"/>
                <a:gd name="connsiteX4" fmla="*/ 0 w 16230600"/>
                <a:gd name="connsiteY4" fmla="*/ 0 h 1618692"/>
                <a:gd name="connsiteX0" fmla="*/ 0 w 16233122"/>
                <a:gd name="connsiteY0" fmla="*/ 0 h 1618692"/>
                <a:gd name="connsiteX1" fmla="*/ 16230600 w 16233122"/>
                <a:gd name="connsiteY1" fmla="*/ 0 h 1618692"/>
                <a:gd name="connsiteX2" fmla="*/ 16233122 w 16233122"/>
                <a:gd name="connsiteY2" fmla="*/ 1591652 h 1618692"/>
                <a:gd name="connsiteX3" fmla="*/ 28575 w 16233122"/>
                <a:gd name="connsiteY3" fmla="*/ 1618692 h 1618692"/>
                <a:gd name="connsiteX4" fmla="*/ 0 w 16233122"/>
                <a:gd name="connsiteY4" fmla="*/ 0 h 1618692"/>
                <a:gd name="connsiteX0" fmla="*/ 16889 w 16250011"/>
                <a:gd name="connsiteY0" fmla="*/ 0 h 1985100"/>
                <a:gd name="connsiteX1" fmla="*/ 16247489 w 16250011"/>
                <a:gd name="connsiteY1" fmla="*/ 0 h 1985100"/>
                <a:gd name="connsiteX2" fmla="*/ 16250011 w 16250011"/>
                <a:gd name="connsiteY2" fmla="*/ 1591652 h 1985100"/>
                <a:gd name="connsiteX3" fmla="*/ 0 w 16250011"/>
                <a:gd name="connsiteY3" fmla="*/ 1985100 h 1985100"/>
                <a:gd name="connsiteX4" fmla="*/ 16889 w 16250011"/>
                <a:gd name="connsiteY4" fmla="*/ 0 h 1985100"/>
                <a:gd name="connsiteX0" fmla="*/ 16889 w 16280321"/>
                <a:gd name="connsiteY0" fmla="*/ 0 h 1985100"/>
                <a:gd name="connsiteX1" fmla="*/ 16247489 w 16280321"/>
                <a:gd name="connsiteY1" fmla="*/ 0 h 1985100"/>
                <a:gd name="connsiteX2" fmla="*/ 16280321 w 16280321"/>
                <a:gd name="connsiteY2" fmla="*/ 1866458 h 1985100"/>
                <a:gd name="connsiteX3" fmla="*/ 0 w 16280321"/>
                <a:gd name="connsiteY3" fmla="*/ 1985100 h 1985100"/>
                <a:gd name="connsiteX4" fmla="*/ 16889 w 16280321"/>
                <a:gd name="connsiteY4" fmla="*/ 0 h 1985100"/>
                <a:gd name="connsiteX0" fmla="*/ 16889 w 16280321"/>
                <a:gd name="connsiteY0" fmla="*/ 0 h 1988596"/>
                <a:gd name="connsiteX1" fmla="*/ 16247489 w 16280321"/>
                <a:gd name="connsiteY1" fmla="*/ 0 h 1988596"/>
                <a:gd name="connsiteX2" fmla="*/ 16280321 w 16280321"/>
                <a:gd name="connsiteY2" fmla="*/ 1988596 h 1988596"/>
                <a:gd name="connsiteX3" fmla="*/ 0 w 16280321"/>
                <a:gd name="connsiteY3" fmla="*/ 1985100 h 1988596"/>
                <a:gd name="connsiteX4" fmla="*/ 16889 w 16280321"/>
                <a:gd name="connsiteY4" fmla="*/ 0 h 1988596"/>
                <a:gd name="connsiteX0" fmla="*/ 16889 w 16247524"/>
                <a:gd name="connsiteY0" fmla="*/ 0 h 1988596"/>
                <a:gd name="connsiteX1" fmla="*/ 16247489 w 16247524"/>
                <a:gd name="connsiteY1" fmla="*/ 0 h 1988596"/>
                <a:gd name="connsiteX2" fmla="*/ 16234857 w 16247524"/>
                <a:gd name="connsiteY2" fmla="*/ 1988596 h 1988596"/>
                <a:gd name="connsiteX3" fmla="*/ 0 w 16247524"/>
                <a:gd name="connsiteY3" fmla="*/ 1985100 h 1988596"/>
                <a:gd name="connsiteX4" fmla="*/ 16889 w 16247524"/>
                <a:gd name="connsiteY4" fmla="*/ 0 h 1988596"/>
                <a:gd name="connsiteX0" fmla="*/ 16889 w 16250013"/>
                <a:gd name="connsiteY0" fmla="*/ 0 h 1985100"/>
                <a:gd name="connsiteX1" fmla="*/ 16247489 w 16250013"/>
                <a:gd name="connsiteY1" fmla="*/ 0 h 1985100"/>
                <a:gd name="connsiteX2" fmla="*/ 16250013 w 16250013"/>
                <a:gd name="connsiteY2" fmla="*/ 1958060 h 1985100"/>
                <a:gd name="connsiteX3" fmla="*/ 0 w 16250013"/>
                <a:gd name="connsiteY3" fmla="*/ 1985100 h 1985100"/>
                <a:gd name="connsiteX4" fmla="*/ 16889 w 16250013"/>
                <a:gd name="connsiteY4" fmla="*/ 0 h 1985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50013" h="1985100">
                  <a:moveTo>
                    <a:pt x="16889" y="0"/>
                  </a:moveTo>
                  <a:lnTo>
                    <a:pt x="16247489" y="0"/>
                  </a:lnTo>
                  <a:cubicBezTo>
                    <a:pt x="16248330" y="530551"/>
                    <a:pt x="16249172" y="1427509"/>
                    <a:pt x="16250013" y="1958060"/>
                  </a:cubicBezTo>
                  <a:lnTo>
                    <a:pt x="0" y="1985100"/>
                  </a:lnTo>
                  <a:lnTo>
                    <a:pt x="16889" y="0"/>
                  </a:lnTo>
                  <a:close/>
                </a:path>
              </a:pathLst>
            </a:custGeom>
            <a:solidFill>
              <a:srgbClr val="C00000"/>
            </a:solidFill>
          </p:spPr>
          <p:txBody>
            <a:bodyPr wrap="square">
              <a:spAutoFit/>
            </a:bodyPr>
            <a:lstStyle/>
            <a:p>
              <a:pPr algn="ctr">
                <a:defRPr/>
              </a:pPr>
              <a:r>
                <a:rPr lang="en-US" sz="4300" baseline="0" dirty="0">
                  <a:solidFill>
                    <a:schemeClr val="bg1"/>
                  </a:solidFill>
                  <a:latin typeface="Arial" charset="0"/>
                  <a:ea typeface="宋体" charset="0"/>
                  <a:cs typeface="ＭＳ Ｐゴシック" charset="0"/>
                </a:rPr>
                <a:t>Results</a:t>
              </a:r>
              <a:endParaRPr lang="en-US" sz="4300" baseline="0" dirty="0">
                <a:solidFill>
                  <a:schemeClr val="bg1"/>
                </a:solidFill>
                <a:latin typeface="Arial" charset="0"/>
                <a:ea typeface="ＭＳ Ｐゴシック" charset="0"/>
                <a:cs typeface="ＭＳ Ｐゴシック" charset="0"/>
              </a:endParaRPr>
            </a:p>
          </p:txBody>
        </p:sp>
      </p:grpSp>
      <p:grpSp>
        <p:nvGrpSpPr>
          <p:cNvPr id="30" name="Group 29">
            <a:extLst>
              <a:ext uri="{FF2B5EF4-FFF2-40B4-BE49-F238E27FC236}">
                <a16:creationId xmlns:a16="http://schemas.microsoft.com/office/drawing/2014/main" id="{BE2A8947-24D3-74CE-A156-3D0D3DBA72BE}"/>
              </a:ext>
            </a:extLst>
          </p:cNvPr>
          <p:cNvGrpSpPr/>
          <p:nvPr/>
        </p:nvGrpSpPr>
        <p:grpSpPr>
          <a:xfrm>
            <a:off x="29486880" y="23359804"/>
            <a:ext cx="13938994" cy="5787019"/>
            <a:chOff x="34823399" y="26522362"/>
            <a:chExt cx="15555080" cy="6081711"/>
          </a:xfrm>
        </p:grpSpPr>
        <p:sp>
          <p:nvSpPr>
            <p:cNvPr id="31" name="Rectangle 36">
              <a:extLst>
                <a:ext uri="{FF2B5EF4-FFF2-40B4-BE49-F238E27FC236}">
                  <a16:creationId xmlns:a16="http://schemas.microsoft.com/office/drawing/2014/main" id="{8793D78A-5378-BE16-1405-DC0E5057C7CE}"/>
                </a:ext>
              </a:extLst>
            </p:cNvPr>
            <p:cNvSpPr>
              <a:spLocks noChangeArrowheads="1"/>
            </p:cNvSpPr>
            <p:nvPr/>
          </p:nvSpPr>
          <p:spPr bwMode="auto">
            <a:xfrm>
              <a:off x="34823399" y="26522362"/>
              <a:ext cx="15547215" cy="6081711"/>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aseline="0"/>
            </a:p>
          </p:txBody>
        </p:sp>
        <p:sp>
          <p:nvSpPr>
            <p:cNvPr id="32" name="Rectangle 2">
              <a:extLst>
                <a:ext uri="{FF2B5EF4-FFF2-40B4-BE49-F238E27FC236}">
                  <a16:creationId xmlns:a16="http://schemas.microsoft.com/office/drawing/2014/main" id="{7E9BDF8D-E489-084A-AF86-EE9120084C20}"/>
                </a:ext>
              </a:extLst>
            </p:cNvPr>
            <p:cNvSpPr txBox="1">
              <a:spLocks noChangeArrowheads="1"/>
            </p:cNvSpPr>
            <p:nvPr/>
          </p:nvSpPr>
          <p:spPr>
            <a:xfrm>
              <a:off x="34835797" y="26522362"/>
              <a:ext cx="15542682" cy="819991"/>
            </a:xfrm>
            <a:custGeom>
              <a:avLst/>
              <a:gdLst>
                <a:gd name="connsiteX0" fmla="*/ 0 w 15528165"/>
                <a:gd name="connsiteY0" fmla="*/ 0 h 838200"/>
                <a:gd name="connsiteX1" fmla="*/ 15528165 w 15528165"/>
                <a:gd name="connsiteY1" fmla="*/ 0 h 838200"/>
                <a:gd name="connsiteX2" fmla="*/ 15528165 w 15528165"/>
                <a:gd name="connsiteY2" fmla="*/ 838200 h 838200"/>
                <a:gd name="connsiteX3" fmla="*/ 0 w 15528165"/>
                <a:gd name="connsiteY3" fmla="*/ 838200 h 838200"/>
                <a:gd name="connsiteX4" fmla="*/ 0 w 15528165"/>
                <a:gd name="connsiteY4" fmla="*/ 0 h 838200"/>
                <a:gd name="connsiteX0" fmla="*/ 0 w 15528165"/>
                <a:gd name="connsiteY0" fmla="*/ 0 h 939800"/>
                <a:gd name="connsiteX1" fmla="*/ 15528165 w 15528165"/>
                <a:gd name="connsiteY1" fmla="*/ 0 h 939800"/>
                <a:gd name="connsiteX2" fmla="*/ 15528165 w 15528165"/>
                <a:gd name="connsiteY2" fmla="*/ 838200 h 939800"/>
                <a:gd name="connsiteX3" fmla="*/ 14515 w 15528165"/>
                <a:gd name="connsiteY3" fmla="*/ 939800 h 939800"/>
                <a:gd name="connsiteX4" fmla="*/ 0 w 15528165"/>
                <a:gd name="connsiteY4" fmla="*/ 0 h 939800"/>
                <a:gd name="connsiteX0" fmla="*/ 14514 w 15542679"/>
                <a:gd name="connsiteY0" fmla="*/ 0 h 896257"/>
                <a:gd name="connsiteX1" fmla="*/ 15542679 w 15542679"/>
                <a:gd name="connsiteY1" fmla="*/ 0 h 896257"/>
                <a:gd name="connsiteX2" fmla="*/ 15542679 w 15542679"/>
                <a:gd name="connsiteY2" fmla="*/ 838200 h 896257"/>
                <a:gd name="connsiteX3" fmla="*/ 0 w 15542679"/>
                <a:gd name="connsiteY3" fmla="*/ 896257 h 896257"/>
                <a:gd name="connsiteX4" fmla="*/ 14514 w 15542679"/>
                <a:gd name="connsiteY4" fmla="*/ 0 h 896257"/>
                <a:gd name="connsiteX0" fmla="*/ 14514 w 15542679"/>
                <a:gd name="connsiteY0" fmla="*/ 0 h 925285"/>
                <a:gd name="connsiteX1" fmla="*/ 15542679 w 15542679"/>
                <a:gd name="connsiteY1" fmla="*/ 0 h 925285"/>
                <a:gd name="connsiteX2" fmla="*/ 15542679 w 15542679"/>
                <a:gd name="connsiteY2" fmla="*/ 925285 h 925285"/>
                <a:gd name="connsiteX3" fmla="*/ 0 w 15542679"/>
                <a:gd name="connsiteY3" fmla="*/ 896257 h 925285"/>
                <a:gd name="connsiteX4" fmla="*/ 14514 w 15542679"/>
                <a:gd name="connsiteY4" fmla="*/ 0 h 925285"/>
                <a:gd name="connsiteX0" fmla="*/ 14514 w 15542679"/>
                <a:gd name="connsiteY0" fmla="*/ 0 h 896257"/>
                <a:gd name="connsiteX1" fmla="*/ 15542679 w 15542679"/>
                <a:gd name="connsiteY1" fmla="*/ 0 h 896257"/>
                <a:gd name="connsiteX2" fmla="*/ 15528164 w 15542679"/>
                <a:gd name="connsiteY2" fmla="*/ 867228 h 896257"/>
                <a:gd name="connsiteX3" fmla="*/ 0 w 15542679"/>
                <a:gd name="connsiteY3" fmla="*/ 896257 h 896257"/>
                <a:gd name="connsiteX4" fmla="*/ 14514 w 15542679"/>
                <a:gd name="connsiteY4" fmla="*/ 0 h 896257"/>
                <a:gd name="connsiteX0" fmla="*/ 14514 w 15542679"/>
                <a:gd name="connsiteY0" fmla="*/ 0 h 925285"/>
                <a:gd name="connsiteX1" fmla="*/ 15542679 w 15542679"/>
                <a:gd name="connsiteY1" fmla="*/ 0 h 925285"/>
                <a:gd name="connsiteX2" fmla="*/ 15499136 w 15542679"/>
                <a:gd name="connsiteY2" fmla="*/ 925285 h 925285"/>
                <a:gd name="connsiteX3" fmla="*/ 0 w 15542679"/>
                <a:gd name="connsiteY3" fmla="*/ 896257 h 925285"/>
                <a:gd name="connsiteX4" fmla="*/ 14514 w 15542679"/>
                <a:gd name="connsiteY4" fmla="*/ 0 h 925285"/>
                <a:gd name="connsiteX0" fmla="*/ 14514 w 15542679"/>
                <a:gd name="connsiteY0" fmla="*/ 0 h 925285"/>
                <a:gd name="connsiteX1" fmla="*/ 15542679 w 15542679"/>
                <a:gd name="connsiteY1" fmla="*/ 0 h 925285"/>
                <a:gd name="connsiteX2" fmla="*/ 15542679 w 15542679"/>
                <a:gd name="connsiteY2" fmla="*/ 925285 h 925285"/>
                <a:gd name="connsiteX3" fmla="*/ 0 w 15542679"/>
                <a:gd name="connsiteY3" fmla="*/ 896257 h 925285"/>
                <a:gd name="connsiteX4" fmla="*/ 14514 w 15542679"/>
                <a:gd name="connsiteY4" fmla="*/ 0 h 925285"/>
                <a:gd name="connsiteX0" fmla="*/ 14514 w 15542679"/>
                <a:gd name="connsiteY0" fmla="*/ 0 h 925285"/>
                <a:gd name="connsiteX1" fmla="*/ 15542679 w 15542679"/>
                <a:gd name="connsiteY1" fmla="*/ 0 h 925285"/>
                <a:gd name="connsiteX2" fmla="*/ 15542679 w 15542679"/>
                <a:gd name="connsiteY2" fmla="*/ 925285 h 925285"/>
                <a:gd name="connsiteX3" fmla="*/ 0 w 15542679"/>
                <a:gd name="connsiteY3" fmla="*/ 819990 h 925285"/>
                <a:gd name="connsiteX4" fmla="*/ 14514 w 15542679"/>
                <a:gd name="connsiteY4" fmla="*/ 0 h 925285"/>
                <a:gd name="connsiteX0" fmla="*/ 14514 w 15542679"/>
                <a:gd name="connsiteY0" fmla="*/ 0 h 819990"/>
                <a:gd name="connsiteX1" fmla="*/ 15542679 w 15542679"/>
                <a:gd name="connsiteY1" fmla="*/ 0 h 819990"/>
                <a:gd name="connsiteX2" fmla="*/ 15542679 w 15542679"/>
                <a:gd name="connsiteY2" fmla="*/ 818511 h 819990"/>
                <a:gd name="connsiteX3" fmla="*/ 0 w 15542679"/>
                <a:gd name="connsiteY3" fmla="*/ 819990 h 819990"/>
                <a:gd name="connsiteX4" fmla="*/ 14514 w 15542679"/>
                <a:gd name="connsiteY4" fmla="*/ 0 h 819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42679" h="819990">
                  <a:moveTo>
                    <a:pt x="14514" y="0"/>
                  </a:moveTo>
                  <a:lnTo>
                    <a:pt x="15542679" y="0"/>
                  </a:lnTo>
                  <a:lnTo>
                    <a:pt x="15542679" y="818511"/>
                  </a:lnTo>
                  <a:lnTo>
                    <a:pt x="0" y="819990"/>
                  </a:lnTo>
                  <a:lnTo>
                    <a:pt x="14514" y="0"/>
                  </a:lnTo>
                  <a:close/>
                </a:path>
              </a:pathLst>
            </a:custGeom>
            <a:solidFill>
              <a:srgbClr val="C00000"/>
            </a:solidFill>
          </p:spPr>
          <p:txBody>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eaLnBrk="1" hangingPunct="1"/>
              <a:r>
                <a:rPr lang="en-US" sz="4300" baseline="0" dirty="0">
                  <a:solidFill>
                    <a:schemeClr val="bg1"/>
                  </a:solidFill>
                  <a:ea typeface="ヒラギノ角ゴ Pro W3" charset="-128"/>
                </a:rPr>
                <a:t>Future Direction and Applications</a:t>
              </a:r>
              <a:endParaRPr lang="en-US" baseline="0" dirty="0">
                <a:solidFill>
                  <a:schemeClr val="bg1"/>
                </a:solidFill>
                <a:ea typeface="ヒラギノ角ゴ Pro W3" charset="-128"/>
              </a:endParaRPr>
            </a:p>
          </p:txBody>
        </p:sp>
      </p:grpSp>
      <p:grpSp>
        <p:nvGrpSpPr>
          <p:cNvPr id="33" name="Group 32">
            <a:extLst>
              <a:ext uri="{FF2B5EF4-FFF2-40B4-BE49-F238E27FC236}">
                <a16:creationId xmlns:a16="http://schemas.microsoft.com/office/drawing/2014/main" id="{4B636DF8-8B1A-D56D-0F11-29D7D1C83F80}"/>
              </a:ext>
            </a:extLst>
          </p:cNvPr>
          <p:cNvGrpSpPr/>
          <p:nvPr/>
        </p:nvGrpSpPr>
        <p:grpSpPr>
          <a:xfrm>
            <a:off x="29486880" y="29489405"/>
            <a:ext cx="13938994" cy="2971796"/>
            <a:chOff x="34819727" y="32972872"/>
            <a:chExt cx="15564112" cy="3150691"/>
          </a:xfrm>
        </p:grpSpPr>
        <p:sp>
          <p:nvSpPr>
            <p:cNvPr id="34" name="Rectangle 43">
              <a:extLst>
                <a:ext uri="{FF2B5EF4-FFF2-40B4-BE49-F238E27FC236}">
                  <a16:creationId xmlns:a16="http://schemas.microsoft.com/office/drawing/2014/main" id="{65FCD510-BDB9-B053-DFF5-41AF7A2B9B31}"/>
                </a:ext>
              </a:extLst>
            </p:cNvPr>
            <p:cNvSpPr>
              <a:spLocks noChangeArrowheads="1"/>
            </p:cNvSpPr>
            <p:nvPr/>
          </p:nvSpPr>
          <p:spPr bwMode="auto">
            <a:xfrm>
              <a:off x="34823400" y="32972873"/>
              <a:ext cx="15544800" cy="3150690"/>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aseline="0"/>
            </a:p>
          </p:txBody>
        </p:sp>
        <p:sp>
          <p:nvSpPr>
            <p:cNvPr id="35" name="Rectangle 2">
              <a:extLst>
                <a:ext uri="{FF2B5EF4-FFF2-40B4-BE49-F238E27FC236}">
                  <a16:creationId xmlns:a16="http://schemas.microsoft.com/office/drawing/2014/main" id="{200311F0-C8CC-1E8F-9A1B-2C16554312D3}"/>
                </a:ext>
              </a:extLst>
            </p:cNvPr>
            <p:cNvSpPr txBox="1">
              <a:spLocks noChangeArrowheads="1"/>
            </p:cNvSpPr>
            <p:nvPr/>
          </p:nvSpPr>
          <p:spPr>
            <a:xfrm>
              <a:off x="34819727" y="32972872"/>
              <a:ext cx="15564112" cy="768525"/>
            </a:xfrm>
            <a:custGeom>
              <a:avLst/>
              <a:gdLst>
                <a:gd name="connsiteX0" fmla="*/ 0 w 15525751"/>
                <a:gd name="connsiteY0" fmla="*/ 0 h 815181"/>
                <a:gd name="connsiteX1" fmla="*/ 15525751 w 15525751"/>
                <a:gd name="connsiteY1" fmla="*/ 0 h 815181"/>
                <a:gd name="connsiteX2" fmla="*/ 15525751 w 15525751"/>
                <a:gd name="connsiteY2" fmla="*/ 815181 h 815181"/>
                <a:gd name="connsiteX3" fmla="*/ 0 w 15525751"/>
                <a:gd name="connsiteY3" fmla="*/ 815181 h 815181"/>
                <a:gd name="connsiteX4" fmla="*/ 0 w 15525751"/>
                <a:gd name="connsiteY4" fmla="*/ 0 h 815181"/>
                <a:gd name="connsiteX0" fmla="*/ 0 w 15525751"/>
                <a:gd name="connsiteY0" fmla="*/ 0 h 887752"/>
                <a:gd name="connsiteX1" fmla="*/ 15525751 w 15525751"/>
                <a:gd name="connsiteY1" fmla="*/ 0 h 887752"/>
                <a:gd name="connsiteX2" fmla="*/ 15525751 w 15525751"/>
                <a:gd name="connsiteY2" fmla="*/ 815181 h 887752"/>
                <a:gd name="connsiteX3" fmla="*/ 0 w 15525751"/>
                <a:gd name="connsiteY3" fmla="*/ 887752 h 887752"/>
                <a:gd name="connsiteX4" fmla="*/ 0 w 15525751"/>
                <a:gd name="connsiteY4" fmla="*/ 0 h 887752"/>
                <a:gd name="connsiteX0" fmla="*/ 0 w 15540266"/>
                <a:gd name="connsiteY0" fmla="*/ 0 h 916781"/>
                <a:gd name="connsiteX1" fmla="*/ 15525751 w 15540266"/>
                <a:gd name="connsiteY1" fmla="*/ 0 h 916781"/>
                <a:gd name="connsiteX2" fmla="*/ 15540266 w 15540266"/>
                <a:gd name="connsiteY2" fmla="*/ 916781 h 916781"/>
                <a:gd name="connsiteX3" fmla="*/ 0 w 15540266"/>
                <a:gd name="connsiteY3" fmla="*/ 887752 h 916781"/>
                <a:gd name="connsiteX4" fmla="*/ 0 w 15540266"/>
                <a:gd name="connsiteY4" fmla="*/ 0 h 916781"/>
                <a:gd name="connsiteX0" fmla="*/ 0 w 15540266"/>
                <a:gd name="connsiteY0" fmla="*/ 0 h 916781"/>
                <a:gd name="connsiteX1" fmla="*/ 15525751 w 15540266"/>
                <a:gd name="connsiteY1" fmla="*/ 0 h 916781"/>
                <a:gd name="connsiteX2" fmla="*/ 15540266 w 15540266"/>
                <a:gd name="connsiteY2" fmla="*/ 916781 h 916781"/>
                <a:gd name="connsiteX3" fmla="*/ 0 w 15540266"/>
                <a:gd name="connsiteY3" fmla="*/ 739496 h 916781"/>
                <a:gd name="connsiteX4" fmla="*/ 0 w 15540266"/>
                <a:gd name="connsiteY4" fmla="*/ 0 h 916781"/>
                <a:gd name="connsiteX0" fmla="*/ 0 w 15525751"/>
                <a:gd name="connsiteY0" fmla="*/ 0 h 768525"/>
                <a:gd name="connsiteX1" fmla="*/ 15525751 w 15525751"/>
                <a:gd name="connsiteY1" fmla="*/ 0 h 768525"/>
                <a:gd name="connsiteX2" fmla="*/ 15508116 w 15525751"/>
                <a:gd name="connsiteY2" fmla="*/ 768525 h 768525"/>
                <a:gd name="connsiteX3" fmla="*/ 0 w 15525751"/>
                <a:gd name="connsiteY3" fmla="*/ 739496 h 768525"/>
                <a:gd name="connsiteX4" fmla="*/ 0 w 15525751"/>
                <a:gd name="connsiteY4" fmla="*/ 0 h 768525"/>
                <a:gd name="connsiteX0" fmla="*/ 0 w 15540215"/>
                <a:gd name="connsiteY0" fmla="*/ 0 h 768525"/>
                <a:gd name="connsiteX1" fmla="*/ 15525751 w 15540215"/>
                <a:gd name="connsiteY1" fmla="*/ 0 h 768525"/>
                <a:gd name="connsiteX2" fmla="*/ 15540215 w 15540215"/>
                <a:gd name="connsiteY2" fmla="*/ 768525 h 768525"/>
                <a:gd name="connsiteX3" fmla="*/ 0 w 15540215"/>
                <a:gd name="connsiteY3" fmla="*/ 739496 h 768525"/>
                <a:gd name="connsiteX4" fmla="*/ 0 w 15540215"/>
                <a:gd name="connsiteY4" fmla="*/ 0 h 768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40215" h="768525">
                  <a:moveTo>
                    <a:pt x="0" y="0"/>
                  </a:moveTo>
                  <a:lnTo>
                    <a:pt x="15525751" y="0"/>
                  </a:lnTo>
                  <a:lnTo>
                    <a:pt x="15540215" y="768525"/>
                  </a:lnTo>
                  <a:lnTo>
                    <a:pt x="0" y="739496"/>
                  </a:lnTo>
                  <a:lnTo>
                    <a:pt x="0" y="0"/>
                  </a:lnTo>
                  <a:close/>
                </a:path>
              </a:pathLst>
            </a:custGeom>
            <a:solidFill>
              <a:srgbClr val="C00000"/>
            </a:solidFill>
          </p:spPr>
          <p:txBody>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eaLnBrk="1" hangingPunct="1"/>
              <a:r>
                <a:rPr lang="en-US" sz="4300" baseline="0" dirty="0">
                  <a:solidFill>
                    <a:schemeClr val="bg1"/>
                  </a:solidFill>
                  <a:ea typeface="ヒラギノ角ゴ Pro W3" charset="-128"/>
                </a:rPr>
                <a:t>Acknowledgments</a:t>
              </a:r>
              <a:endParaRPr lang="en-US" baseline="0" dirty="0">
                <a:solidFill>
                  <a:schemeClr val="bg1"/>
                </a:solidFill>
                <a:ea typeface="ヒラギノ角ゴ Pro W3" charset="-128"/>
              </a:endParaRPr>
            </a:p>
          </p:txBody>
        </p:sp>
      </p:grpSp>
      <p:grpSp>
        <p:nvGrpSpPr>
          <p:cNvPr id="36" name="Group 35">
            <a:extLst>
              <a:ext uri="{FF2B5EF4-FFF2-40B4-BE49-F238E27FC236}">
                <a16:creationId xmlns:a16="http://schemas.microsoft.com/office/drawing/2014/main" id="{D8AF4D5B-FD87-F94C-12BB-BA5DF2C54510}"/>
              </a:ext>
            </a:extLst>
          </p:cNvPr>
          <p:cNvGrpSpPr/>
          <p:nvPr/>
        </p:nvGrpSpPr>
        <p:grpSpPr>
          <a:xfrm>
            <a:off x="15015303" y="5497671"/>
            <a:ext cx="13941159" cy="26963531"/>
            <a:chOff x="17946053" y="6547786"/>
            <a:chExt cx="16242393" cy="29575777"/>
          </a:xfrm>
        </p:grpSpPr>
        <p:sp>
          <p:nvSpPr>
            <p:cNvPr id="37" name="Rectangle 8">
              <a:extLst>
                <a:ext uri="{FF2B5EF4-FFF2-40B4-BE49-F238E27FC236}">
                  <a16:creationId xmlns:a16="http://schemas.microsoft.com/office/drawing/2014/main" id="{6B64F85E-AB08-010D-F1ED-4E6E6F41F063}"/>
                </a:ext>
              </a:extLst>
            </p:cNvPr>
            <p:cNvSpPr/>
            <p:nvPr/>
          </p:nvSpPr>
          <p:spPr>
            <a:xfrm>
              <a:off x="17946053" y="6547786"/>
              <a:ext cx="16242393" cy="814713"/>
            </a:xfrm>
            <a:custGeom>
              <a:avLst/>
              <a:gdLst>
                <a:gd name="connsiteX0" fmla="*/ 0 w 16230600"/>
                <a:gd name="connsiteY0" fmla="*/ 0 h 646331"/>
                <a:gd name="connsiteX1" fmla="*/ 16230600 w 16230600"/>
                <a:gd name="connsiteY1" fmla="*/ 0 h 646331"/>
                <a:gd name="connsiteX2" fmla="*/ 16230600 w 16230600"/>
                <a:gd name="connsiteY2" fmla="*/ 646331 h 646331"/>
                <a:gd name="connsiteX3" fmla="*/ 0 w 16230600"/>
                <a:gd name="connsiteY3" fmla="*/ 646331 h 646331"/>
                <a:gd name="connsiteX4" fmla="*/ 0 w 16230600"/>
                <a:gd name="connsiteY4" fmla="*/ 0 h 646331"/>
                <a:gd name="connsiteX0" fmla="*/ 0 w 16230600"/>
                <a:gd name="connsiteY0" fmla="*/ 0 h 817781"/>
                <a:gd name="connsiteX1" fmla="*/ 16230600 w 16230600"/>
                <a:gd name="connsiteY1" fmla="*/ 0 h 817781"/>
                <a:gd name="connsiteX2" fmla="*/ 16230600 w 16230600"/>
                <a:gd name="connsiteY2" fmla="*/ 646331 h 817781"/>
                <a:gd name="connsiteX3" fmla="*/ 57150 w 16230600"/>
                <a:gd name="connsiteY3" fmla="*/ 817781 h 817781"/>
                <a:gd name="connsiteX4" fmla="*/ 0 w 16230600"/>
                <a:gd name="connsiteY4" fmla="*/ 0 h 817781"/>
                <a:gd name="connsiteX0" fmla="*/ 0 w 16230600"/>
                <a:gd name="connsiteY0" fmla="*/ 0 h 846356"/>
                <a:gd name="connsiteX1" fmla="*/ 16230600 w 16230600"/>
                <a:gd name="connsiteY1" fmla="*/ 0 h 846356"/>
                <a:gd name="connsiteX2" fmla="*/ 16202025 w 16230600"/>
                <a:gd name="connsiteY2" fmla="*/ 846356 h 846356"/>
                <a:gd name="connsiteX3" fmla="*/ 57150 w 16230600"/>
                <a:gd name="connsiteY3" fmla="*/ 817781 h 846356"/>
                <a:gd name="connsiteX4" fmla="*/ 0 w 16230600"/>
                <a:gd name="connsiteY4" fmla="*/ 0 h 846356"/>
                <a:gd name="connsiteX0" fmla="*/ 0 w 16230600"/>
                <a:gd name="connsiteY0" fmla="*/ 0 h 932081"/>
                <a:gd name="connsiteX1" fmla="*/ 16230600 w 16230600"/>
                <a:gd name="connsiteY1" fmla="*/ 0 h 932081"/>
                <a:gd name="connsiteX2" fmla="*/ 16202025 w 16230600"/>
                <a:gd name="connsiteY2" fmla="*/ 846356 h 932081"/>
                <a:gd name="connsiteX3" fmla="*/ 0 w 16230600"/>
                <a:gd name="connsiteY3" fmla="*/ 932081 h 932081"/>
                <a:gd name="connsiteX4" fmla="*/ 0 w 16230600"/>
                <a:gd name="connsiteY4" fmla="*/ 0 h 932081"/>
                <a:gd name="connsiteX0" fmla="*/ 0 w 16230600"/>
                <a:gd name="connsiteY0" fmla="*/ 0 h 960656"/>
                <a:gd name="connsiteX1" fmla="*/ 16230600 w 16230600"/>
                <a:gd name="connsiteY1" fmla="*/ 0 h 960656"/>
                <a:gd name="connsiteX2" fmla="*/ 16202025 w 16230600"/>
                <a:gd name="connsiteY2" fmla="*/ 960656 h 960656"/>
                <a:gd name="connsiteX3" fmla="*/ 0 w 16230600"/>
                <a:gd name="connsiteY3" fmla="*/ 932081 h 960656"/>
                <a:gd name="connsiteX4" fmla="*/ 0 w 16230600"/>
                <a:gd name="connsiteY4" fmla="*/ 0 h 960656"/>
                <a:gd name="connsiteX0" fmla="*/ 0 w 16230600"/>
                <a:gd name="connsiteY0" fmla="*/ 0 h 1229383"/>
                <a:gd name="connsiteX1" fmla="*/ 16230600 w 16230600"/>
                <a:gd name="connsiteY1" fmla="*/ 0 h 1229383"/>
                <a:gd name="connsiteX2" fmla="*/ 16202025 w 16230600"/>
                <a:gd name="connsiteY2" fmla="*/ 960656 h 1229383"/>
                <a:gd name="connsiteX3" fmla="*/ 28575 w 16230600"/>
                <a:gd name="connsiteY3" fmla="*/ 1229383 h 1229383"/>
                <a:gd name="connsiteX4" fmla="*/ 0 w 16230600"/>
                <a:gd name="connsiteY4" fmla="*/ 0 h 1229383"/>
                <a:gd name="connsiteX0" fmla="*/ 0 w 16230600"/>
                <a:gd name="connsiteY0" fmla="*/ 0 h 1257958"/>
                <a:gd name="connsiteX1" fmla="*/ 16230600 w 16230600"/>
                <a:gd name="connsiteY1" fmla="*/ 0 h 1257958"/>
                <a:gd name="connsiteX2" fmla="*/ 16173450 w 16230600"/>
                <a:gd name="connsiteY2" fmla="*/ 1257958 h 1257958"/>
                <a:gd name="connsiteX3" fmla="*/ 28575 w 16230600"/>
                <a:gd name="connsiteY3" fmla="*/ 1229383 h 1257958"/>
                <a:gd name="connsiteX4" fmla="*/ 0 w 16230600"/>
                <a:gd name="connsiteY4" fmla="*/ 0 h 1257958"/>
                <a:gd name="connsiteX0" fmla="*/ 0 w 16230600"/>
                <a:gd name="connsiteY0" fmla="*/ 0 h 1428710"/>
                <a:gd name="connsiteX1" fmla="*/ 16230600 w 16230600"/>
                <a:gd name="connsiteY1" fmla="*/ 0 h 1428710"/>
                <a:gd name="connsiteX2" fmla="*/ 16173450 w 16230600"/>
                <a:gd name="connsiteY2" fmla="*/ 1257958 h 1428710"/>
                <a:gd name="connsiteX3" fmla="*/ 28575 w 16230600"/>
                <a:gd name="connsiteY3" fmla="*/ 1428710 h 1428710"/>
                <a:gd name="connsiteX4" fmla="*/ 0 w 16230600"/>
                <a:gd name="connsiteY4" fmla="*/ 0 h 1428710"/>
                <a:gd name="connsiteX0" fmla="*/ 0 w 16234410"/>
                <a:gd name="connsiteY0" fmla="*/ 0 h 1507116"/>
                <a:gd name="connsiteX1" fmla="*/ 16230600 w 16234410"/>
                <a:gd name="connsiteY1" fmla="*/ 0 h 1507116"/>
                <a:gd name="connsiteX2" fmla="*/ 16234410 w 16234410"/>
                <a:gd name="connsiteY2" fmla="*/ 1507116 h 1507116"/>
                <a:gd name="connsiteX3" fmla="*/ 28575 w 16234410"/>
                <a:gd name="connsiteY3" fmla="*/ 1428710 h 1507116"/>
                <a:gd name="connsiteX4" fmla="*/ 0 w 16234410"/>
                <a:gd name="connsiteY4" fmla="*/ 0 h 1507116"/>
                <a:gd name="connsiteX0" fmla="*/ 0 w 16234410"/>
                <a:gd name="connsiteY0" fmla="*/ 0 h 1628036"/>
                <a:gd name="connsiteX1" fmla="*/ 16230600 w 16234410"/>
                <a:gd name="connsiteY1" fmla="*/ 0 h 1628036"/>
                <a:gd name="connsiteX2" fmla="*/ 16234410 w 16234410"/>
                <a:gd name="connsiteY2" fmla="*/ 1507116 h 1628036"/>
                <a:gd name="connsiteX3" fmla="*/ 59055 w 16234410"/>
                <a:gd name="connsiteY3" fmla="*/ 1628036 h 1628036"/>
                <a:gd name="connsiteX4" fmla="*/ 0 w 16234410"/>
                <a:gd name="connsiteY4" fmla="*/ 0 h 1628036"/>
                <a:gd name="connsiteX0" fmla="*/ 0 w 16230600"/>
                <a:gd name="connsiteY0" fmla="*/ 0 h 1706442"/>
                <a:gd name="connsiteX1" fmla="*/ 16230600 w 16230600"/>
                <a:gd name="connsiteY1" fmla="*/ 0 h 1706442"/>
                <a:gd name="connsiteX2" fmla="*/ 16173450 w 16230600"/>
                <a:gd name="connsiteY2" fmla="*/ 1706442 h 1706442"/>
                <a:gd name="connsiteX3" fmla="*/ 59055 w 16230600"/>
                <a:gd name="connsiteY3" fmla="*/ 1628036 h 1706442"/>
                <a:gd name="connsiteX4" fmla="*/ 0 w 16230600"/>
                <a:gd name="connsiteY4" fmla="*/ 0 h 1706442"/>
                <a:gd name="connsiteX0" fmla="*/ 0 w 16230600"/>
                <a:gd name="connsiteY0" fmla="*/ 0 h 1706442"/>
                <a:gd name="connsiteX1" fmla="*/ 16230600 w 16230600"/>
                <a:gd name="connsiteY1" fmla="*/ 0 h 1706442"/>
                <a:gd name="connsiteX2" fmla="*/ 16173450 w 16230600"/>
                <a:gd name="connsiteY2" fmla="*/ 1706442 h 1706442"/>
                <a:gd name="connsiteX3" fmla="*/ 1905 w 16230600"/>
                <a:gd name="connsiteY3" fmla="*/ 1690325 h 1706442"/>
                <a:gd name="connsiteX4" fmla="*/ 0 w 16230600"/>
                <a:gd name="connsiteY4" fmla="*/ 0 h 1706442"/>
                <a:gd name="connsiteX0" fmla="*/ 0 w 16230600"/>
                <a:gd name="connsiteY0" fmla="*/ 0 h 1706442"/>
                <a:gd name="connsiteX1" fmla="*/ 16230600 w 16230600"/>
                <a:gd name="connsiteY1" fmla="*/ 0 h 1706442"/>
                <a:gd name="connsiteX2" fmla="*/ 16216993 w 16230600"/>
                <a:gd name="connsiteY2" fmla="*/ 1706442 h 1706442"/>
                <a:gd name="connsiteX3" fmla="*/ 1905 w 16230600"/>
                <a:gd name="connsiteY3" fmla="*/ 1690325 h 1706442"/>
                <a:gd name="connsiteX4" fmla="*/ 0 w 16230600"/>
                <a:gd name="connsiteY4" fmla="*/ 0 h 1706442"/>
                <a:gd name="connsiteX0" fmla="*/ 36195 w 16266795"/>
                <a:gd name="connsiteY0" fmla="*/ 0 h 2028313"/>
                <a:gd name="connsiteX1" fmla="*/ 16266795 w 16266795"/>
                <a:gd name="connsiteY1" fmla="*/ 0 h 2028313"/>
                <a:gd name="connsiteX2" fmla="*/ 16253188 w 16266795"/>
                <a:gd name="connsiteY2" fmla="*/ 1706442 h 2028313"/>
                <a:gd name="connsiteX3" fmla="*/ 0 w 16266795"/>
                <a:gd name="connsiteY3" fmla="*/ 2028313 h 2028313"/>
                <a:gd name="connsiteX4" fmla="*/ 36195 w 16266795"/>
                <a:gd name="connsiteY4" fmla="*/ 0 h 2028313"/>
                <a:gd name="connsiteX0" fmla="*/ 0 w 16230600"/>
                <a:gd name="connsiteY0" fmla="*/ 0 h 2028313"/>
                <a:gd name="connsiteX1" fmla="*/ 16230600 w 16230600"/>
                <a:gd name="connsiteY1" fmla="*/ 0 h 2028313"/>
                <a:gd name="connsiteX2" fmla="*/ 16216993 w 16230600"/>
                <a:gd name="connsiteY2" fmla="*/ 1706442 h 2028313"/>
                <a:gd name="connsiteX3" fmla="*/ 14605 w 16230600"/>
                <a:gd name="connsiteY3" fmla="*/ 2028313 h 2028313"/>
                <a:gd name="connsiteX4" fmla="*/ 0 w 16230600"/>
                <a:gd name="connsiteY4" fmla="*/ 0 h 2028313"/>
                <a:gd name="connsiteX0" fmla="*/ 0 w 16230600"/>
                <a:gd name="connsiteY0" fmla="*/ 0 h 2140976"/>
                <a:gd name="connsiteX1" fmla="*/ 16230600 w 16230600"/>
                <a:gd name="connsiteY1" fmla="*/ 0 h 2140976"/>
                <a:gd name="connsiteX2" fmla="*/ 16216993 w 16230600"/>
                <a:gd name="connsiteY2" fmla="*/ 1706442 h 2140976"/>
                <a:gd name="connsiteX3" fmla="*/ 40005 w 16230600"/>
                <a:gd name="connsiteY3" fmla="*/ 2140976 h 2140976"/>
                <a:gd name="connsiteX4" fmla="*/ 0 w 16230600"/>
                <a:gd name="connsiteY4" fmla="*/ 0 h 2140976"/>
                <a:gd name="connsiteX0" fmla="*/ 0 w 16230600"/>
                <a:gd name="connsiteY0" fmla="*/ 0 h 2140976"/>
                <a:gd name="connsiteX1" fmla="*/ 16230600 w 16230600"/>
                <a:gd name="connsiteY1" fmla="*/ 0 h 2140976"/>
                <a:gd name="connsiteX2" fmla="*/ 16216993 w 16230600"/>
                <a:gd name="connsiteY2" fmla="*/ 1706442 h 2140976"/>
                <a:gd name="connsiteX3" fmla="*/ 14605 w 16230600"/>
                <a:gd name="connsiteY3" fmla="*/ 2140976 h 2140976"/>
                <a:gd name="connsiteX4" fmla="*/ 0 w 16230600"/>
                <a:gd name="connsiteY4" fmla="*/ 0 h 2140976"/>
                <a:gd name="connsiteX0" fmla="*/ 0 w 16242393"/>
                <a:gd name="connsiteY0" fmla="*/ 0 h 2140976"/>
                <a:gd name="connsiteX1" fmla="*/ 16230600 w 16242393"/>
                <a:gd name="connsiteY1" fmla="*/ 0 h 2140976"/>
                <a:gd name="connsiteX2" fmla="*/ 16242393 w 16242393"/>
                <a:gd name="connsiteY2" fmla="*/ 2016264 h 2140976"/>
                <a:gd name="connsiteX3" fmla="*/ 14605 w 16242393"/>
                <a:gd name="connsiteY3" fmla="*/ 2140976 h 2140976"/>
                <a:gd name="connsiteX4" fmla="*/ 0 w 16242393"/>
                <a:gd name="connsiteY4" fmla="*/ 0 h 2140976"/>
                <a:gd name="connsiteX0" fmla="*/ 0 w 16242393"/>
                <a:gd name="connsiteY0" fmla="*/ 0 h 2140976"/>
                <a:gd name="connsiteX1" fmla="*/ 16230600 w 16242393"/>
                <a:gd name="connsiteY1" fmla="*/ 0 h 2140976"/>
                <a:gd name="connsiteX2" fmla="*/ 16242393 w 16242393"/>
                <a:gd name="connsiteY2" fmla="*/ 2100761 h 2140976"/>
                <a:gd name="connsiteX3" fmla="*/ 14605 w 16242393"/>
                <a:gd name="connsiteY3" fmla="*/ 2140976 h 2140976"/>
                <a:gd name="connsiteX4" fmla="*/ 0 w 16242393"/>
                <a:gd name="connsiteY4" fmla="*/ 0 h 214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42393" h="2140976">
                  <a:moveTo>
                    <a:pt x="0" y="0"/>
                  </a:moveTo>
                  <a:lnTo>
                    <a:pt x="16230600" y="0"/>
                  </a:lnTo>
                  <a:lnTo>
                    <a:pt x="16242393" y="2100761"/>
                  </a:lnTo>
                  <a:lnTo>
                    <a:pt x="14605" y="2140976"/>
                  </a:lnTo>
                  <a:cubicBezTo>
                    <a:pt x="9737" y="1427317"/>
                    <a:pt x="4868" y="713659"/>
                    <a:pt x="0" y="0"/>
                  </a:cubicBezTo>
                  <a:close/>
                </a:path>
              </a:pathLst>
            </a:custGeom>
            <a:solidFill>
              <a:srgbClr val="C00000"/>
            </a:solidFill>
          </p:spPr>
          <p:txBody>
            <a:bodyPr wrap="square">
              <a:spAutoFit/>
            </a:bodyPr>
            <a:lstStyle/>
            <a:p>
              <a:pPr algn="ctr">
                <a:defRPr/>
              </a:pPr>
              <a:r>
                <a:rPr lang="en-US" sz="4300" baseline="0" dirty="0">
                  <a:solidFill>
                    <a:schemeClr val="bg1"/>
                  </a:solidFill>
                  <a:latin typeface="Arial" charset="0"/>
                  <a:ea typeface="ＭＳ Ｐゴシック" charset="0"/>
                  <a:cs typeface="ＭＳ Ｐゴシック" charset="0"/>
                </a:rPr>
                <a:t>Materials and Methods</a:t>
              </a:r>
            </a:p>
          </p:txBody>
        </p:sp>
        <p:sp>
          <p:nvSpPr>
            <p:cNvPr id="38" name="Rectangle 21">
              <a:extLst>
                <a:ext uri="{FF2B5EF4-FFF2-40B4-BE49-F238E27FC236}">
                  <a16:creationId xmlns:a16="http://schemas.microsoft.com/office/drawing/2014/main" id="{A2F4E7AF-AC80-9684-B18E-467AF31F9B53}"/>
                </a:ext>
              </a:extLst>
            </p:cNvPr>
            <p:cNvSpPr>
              <a:spLocks noChangeArrowheads="1"/>
            </p:cNvSpPr>
            <p:nvPr/>
          </p:nvSpPr>
          <p:spPr bwMode="auto">
            <a:xfrm>
              <a:off x="17949863" y="6557963"/>
              <a:ext cx="16230600" cy="29565600"/>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baseline="0"/>
            </a:p>
          </p:txBody>
        </p:sp>
      </p:grpSp>
      <p:sp>
        <p:nvSpPr>
          <p:cNvPr id="39" name="TextBox 38">
            <a:extLst>
              <a:ext uri="{FF2B5EF4-FFF2-40B4-BE49-F238E27FC236}">
                <a16:creationId xmlns:a16="http://schemas.microsoft.com/office/drawing/2014/main" id="{2AC1D6F6-C676-951B-033A-94092C4B0971}"/>
              </a:ext>
            </a:extLst>
          </p:cNvPr>
          <p:cNvSpPr txBox="1"/>
          <p:nvPr/>
        </p:nvSpPr>
        <p:spPr>
          <a:xfrm>
            <a:off x="884662" y="19981419"/>
            <a:ext cx="13307895" cy="4789702"/>
          </a:xfrm>
          <a:prstGeom prst="rect">
            <a:avLst/>
          </a:prstGeom>
          <a:noFill/>
        </p:spPr>
        <p:txBody>
          <a:bodyPr wrap="square" lIns="79925" tIns="39970" rIns="79925" bIns="39970" rtlCol="0">
            <a:spAutoFit/>
          </a:bodyPr>
          <a:lstStyle/>
          <a:p>
            <a:r>
              <a:rPr lang="en-US" sz="3400" b="0" baseline="0" dirty="0">
                <a:latin typeface="Calibri" panose="020F0502020204030204" pitchFamily="34" charset="0"/>
              </a:rPr>
              <a:t>In robotic manipulation tasks, determining whether a grasp configuration is successful remains a critical challenge. In order for a robot to successfully pick up an object, it must identify viable contact points with the object from visual data. The classical approach to this problem </a:t>
            </a:r>
            <a:r>
              <a:rPr lang="en-US" sz="3400" dirty="0">
                <a:latin typeface="Calibri" panose="020F0502020204030204" pitchFamily="34" charset="0"/>
              </a:rPr>
              <a:t>heavily relies hand-crafted feature extractors, (i.e. Canny Edge Detection) which frequently fail when subjected to textureless surfaces, shadows, and noisy sensor data. A need for a more robust method for interpreting geometry and texture without relying on manually engineered features has risen as a result of this.</a:t>
            </a:r>
            <a:endParaRPr lang="en-US" sz="3400" b="0" baseline="0" dirty="0">
              <a:latin typeface="Calibri" panose="020F0502020204030204" pitchFamily="34" charset="0"/>
            </a:endParaRPr>
          </a:p>
        </p:txBody>
      </p:sp>
      <p:sp>
        <p:nvSpPr>
          <p:cNvPr id="40" name="TextBox 39">
            <a:extLst>
              <a:ext uri="{FF2B5EF4-FFF2-40B4-BE49-F238E27FC236}">
                <a16:creationId xmlns:a16="http://schemas.microsoft.com/office/drawing/2014/main" id="{6101C456-B7A2-59C0-B71D-98AED0A7D327}"/>
              </a:ext>
            </a:extLst>
          </p:cNvPr>
          <p:cNvSpPr txBox="1"/>
          <p:nvPr/>
        </p:nvSpPr>
        <p:spPr>
          <a:xfrm>
            <a:off x="15404417" y="6593307"/>
            <a:ext cx="13082365" cy="18916646"/>
          </a:xfrm>
          <a:prstGeom prst="rect">
            <a:avLst/>
          </a:prstGeom>
          <a:noFill/>
        </p:spPr>
        <p:txBody>
          <a:bodyPr wrap="square" lIns="79925" tIns="39970" rIns="79925" bIns="39970" rtlCol="0">
            <a:spAutoFit/>
          </a:bodyPr>
          <a:lstStyle/>
          <a:p>
            <a:r>
              <a:rPr lang="en-US" sz="3400" b="1" baseline="0" dirty="0">
                <a:latin typeface="Calibri" panose="020F0502020204030204" pitchFamily="34" charset="0"/>
              </a:rPr>
              <a:t>Dataset and Setup</a:t>
            </a:r>
          </a:p>
          <a:p>
            <a:pPr marL="457200" indent="-457200">
              <a:buFont typeface="Arial" panose="020B0604020202020204" pitchFamily="34" charset="0"/>
              <a:buChar char="•"/>
            </a:pPr>
            <a:r>
              <a:rPr lang="en-US" sz="3400" b="0" baseline="0" dirty="0">
                <a:latin typeface="Calibri" panose="020F0502020204030204" pitchFamily="34" charset="0"/>
              </a:rPr>
              <a:t>Dataset Used: Cornell Grasp Dataset</a:t>
            </a:r>
          </a:p>
          <a:p>
            <a:pPr marL="457200" indent="-457200">
              <a:buFont typeface="Arial" panose="020B0604020202020204" pitchFamily="34" charset="0"/>
              <a:buChar char="•"/>
            </a:pPr>
            <a:r>
              <a:rPr lang="en-US" sz="3400" dirty="0">
                <a:latin typeface="Calibri" panose="020F0502020204030204" pitchFamily="34" charset="0"/>
              </a:rPr>
              <a:t>Physical Constraints: The gripper type is a parallel-jaw gripper that can not wrap around objects. The gripper is also assumed to always approach to the object perfectly top-down. The jaw plate is a 5-parameter rectangle model where height and width are constant.</a:t>
            </a:r>
            <a:endParaRPr lang="en-US" sz="3400" b="0" baseline="0" dirty="0">
              <a:latin typeface="Calibri" panose="020F0502020204030204" pitchFamily="34" charset="0"/>
            </a:endParaRPr>
          </a:p>
          <a:p>
            <a:pPr marL="457200" indent="-457200">
              <a:buFont typeface="Arial" panose="020B0604020202020204" pitchFamily="34" charset="0"/>
              <a:buChar char="•"/>
            </a:pPr>
            <a:r>
              <a:rPr lang="en-US" sz="3400" b="0" baseline="0" dirty="0">
                <a:latin typeface="Calibri" panose="020F0502020204030204" pitchFamily="34" charset="0"/>
              </a:rPr>
              <a:t>Binary Classification: The model takes in a 96 x 96 x 3 RGB Image tensor. Robotic parameters such as target X/Y coords., wrist angle, and jaw width are encoded into the image patch through the preprocessing pipeline. The model then outputs a binary probability score (0 to 1), where 1 means that the geometric/spatial features within the patch indicate a successful grasp and vice versa.</a:t>
            </a:r>
          </a:p>
          <a:p>
            <a:pPr marL="457200" indent="-457200">
              <a:buFont typeface="Arial" panose="020B0604020202020204" pitchFamily="34" charset="0"/>
              <a:buChar char="•"/>
            </a:pPr>
            <a:r>
              <a:rPr lang="en-US" sz="3400" b="0" baseline="0" dirty="0">
                <a:latin typeface="Calibri" panose="020F0502020204030204" pitchFamily="34" charset="0"/>
              </a:rPr>
              <a:t>Tools/libraries: OpenCV (Canny Edge Detection), TensorFlow, Scikit-Learn</a:t>
            </a:r>
            <a:endParaRPr lang="en-US" sz="3400" i="1" dirty="0">
              <a:latin typeface="Calibri" panose="020F0502020204030204" pitchFamily="34" charset="0"/>
            </a:endParaRPr>
          </a:p>
          <a:p>
            <a:endParaRPr lang="en-US" sz="3400" i="1" dirty="0">
              <a:latin typeface="Calibri" panose="020F0502020204030204" pitchFamily="34" charset="0"/>
            </a:endParaRPr>
          </a:p>
          <a:p>
            <a:endParaRPr lang="en-US" sz="3400" i="1" dirty="0">
              <a:latin typeface="Calibri" panose="020F0502020204030204" pitchFamily="34" charset="0"/>
            </a:endParaRPr>
          </a:p>
          <a:p>
            <a:endParaRPr lang="en-US" sz="3400" i="1" dirty="0">
              <a:latin typeface="Calibri" panose="020F0502020204030204" pitchFamily="34" charset="0"/>
            </a:endParaRPr>
          </a:p>
          <a:p>
            <a:endParaRPr lang="en-US" sz="3400" i="1" dirty="0">
              <a:latin typeface="Calibri" panose="020F0502020204030204" pitchFamily="34" charset="0"/>
            </a:endParaRPr>
          </a:p>
          <a:p>
            <a:endParaRPr lang="en-US" sz="3400" i="1" dirty="0">
              <a:latin typeface="Calibri" panose="020F0502020204030204" pitchFamily="34" charset="0"/>
            </a:endParaRPr>
          </a:p>
          <a:p>
            <a:endParaRPr lang="en-US" sz="3400" i="1" dirty="0">
              <a:latin typeface="Calibri" panose="020F0502020204030204" pitchFamily="34" charset="0"/>
            </a:endParaRPr>
          </a:p>
          <a:p>
            <a:endParaRPr lang="en-US" sz="3400" i="1" dirty="0">
              <a:latin typeface="Calibri" panose="020F0502020204030204" pitchFamily="34" charset="0"/>
            </a:endParaRPr>
          </a:p>
          <a:p>
            <a:endParaRPr lang="en-US" sz="3400" i="1" dirty="0">
              <a:latin typeface="Calibri" panose="020F0502020204030204" pitchFamily="34" charset="0"/>
            </a:endParaRPr>
          </a:p>
          <a:p>
            <a:r>
              <a:rPr lang="en-US" sz="3400" b="1" baseline="0" dirty="0">
                <a:latin typeface="Calibri" panose="020F0502020204030204" pitchFamily="34" charset="0"/>
              </a:rPr>
              <a:t>Neural Network/ Model Architecture (if applicable)</a:t>
            </a:r>
          </a:p>
          <a:p>
            <a:pPr marL="457200" indent="-457200">
              <a:buFont typeface="Arial" panose="020B0604020202020204" pitchFamily="34" charset="0"/>
              <a:buChar char="•"/>
            </a:pPr>
            <a:r>
              <a:rPr lang="en-US" sz="3400" b="0" baseline="0" dirty="0">
                <a:latin typeface="Calibri" panose="020F0502020204030204" pitchFamily="34" charset="0"/>
              </a:rPr>
              <a:t>Model type: CNN</a:t>
            </a:r>
          </a:p>
          <a:p>
            <a:pPr marL="457200" indent="-457200">
              <a:buFont typeface="Arial" panose="020B0604020202020204" pitchFamily="34" charset="0"/>
              <a:buChar char="•"/>
            </a:pPr>
            <a:r>
              <a:rPr lang="en-US" sz="3400" b="0" baseline="0" dirty="0">
                <a:latin typeface="Calibri" panose="020F0502020204030204" pitchFamily="34" charset="0"/>
              </a:rPr>
              <a:t>Key hyperparameters: 4 Conv. Blocks, 0.5 dropout rate, 40 epochs, early stopping patience, learning rate schedule</a:t>
            </a:r>
          </a:p>
          <a:p>
            <a:pPr marL="457200" indent="-457200">
              <a:buFont typeface="Arial" panose="020B0604020202020204" pitchFamily="34" charset="0"/>
              <a:buChar char="•"/>
            </a:pPr>
            <a:r>
              <a:rPr lang="en-US" sz="3400" b="0" baseline="0" dirty="0">
                <a:latin typeface="Calibri" panose="020F0502020204030204" pitchFamily="34" charset="0"/>
              </a:rPr>
              <a:t>Mechanistic priors or constraints if used: The classical baseline uses a Canny edge detection + classic SVM approach derived from rigid body physics. This assumes that a viable grasp must involve the robotic fingers clamping on opposing, physical boundaries. In the CNN pipeline, each image patch is mathematically cropped and rotated so that the robotic jaws are always perfectly horizontal, allowing a rigid spatial constraint to be enforced on the dataset.</a:t>
            </a:r>
            <a:endParaRPr lang="en-US" sz="3400" i="1" dirty="0">
              <a:latin typeface="Calibri" panose="020F0502020204030204" pitchFamily="34" charset="0"/>
            </a:endParaRPr>
          </a:p>
          <a:p>
            <a:endParaRPr lang="en-US" sz="3400" b="0" i="1" baseline="0" dirty="0">
              <a:latin typeface="Calibri" panose="020F0502020204030204" pitchFamily="34" charset="0"/>
            </a:endParaRPr>
          </a:p>
          <a:p>
            <a:endParaRPr lang="en-US" sz="3400" b="0" i="1" baseline="0" dirty="0">
              <a:latin typeface="Calibri" panose="020F0502020204030204" pitchFamily="34" charset="0"/>
            </a:endParaRPr>
          </a:p>
          <a:p>
            <a:endParaRPr lang="en-US" sz="3400" b="0" baseline="0" dirty="0">
              <a:latin typeface="Calibri" panose="020F0502020204030204" pitchFamily="34" charset="0"/>
            </a:endParaRPr>
          </a:p>
        </p:txBody>
      </p:sp>
      <p:sp>
        <p:nvSpPr>
          <p:cNvPr id="42" name="TextBox 41">
            <a:extLst>
              <a:ext uri="{FF2B5EF4-FFF2-40B4-BE49-F238E27FC236}">
                <a16:creationId xmlns:a16="http://schemas.microsoft.com/office/drawing/2014/main" id="{66917170-9673-151A-0724-6C7EB4C6C56F}"/>
              </a:ext>
            </a:extLst>
          </p:cNvPr>
          <p:cNvSpPr txBox="1"/>
          <p:nvPr/>
        </p:nvSpPr>
        <p:spPr>
          <a:xfrm>
            <a:off x="29794200" y="19131859"/>
            <a:ext cx="13212337" cy="3743262"/>
          </a:xfrm>
          <a:prstGeom prst="rect">
            <a:avLst/>
          </a:prstGeom>
          <a:noFill/>
        </p:spPr>
        <p:txBody>
          <a:bodyPr wrap="square" lIns="79925" tIns="39970" rIns="79925" bIns="39970" rtlCol="0">
            <a:spAutoFit/>
          </a:bodyPr>
          <a:lstStyle/>
          <a:p>
            <a:pPr marL="457200" indent="-457200">
              <a:buFont typeface="Arial" panose="020B0604020202020204" pitchFamily="34" charset="0"/>
              <a:buChar char="•"/>
            </a:pPr>
            <a:r>
              <a:rPr lang="en-US" sz="3400" b="0" baseline="0" dirty="0">
                <a:latin typeface="Calibri" panose="020F0502020204030204" pitchFamily="34" charset="0"/>
              </a:rPr>
              <a:t>Classical methods such as Canny Edge Detection look at local pixel intensity where if a sharp color gradient exists, it marks it as an edge. The custom CNN however is able to learn shape context, understanding the relationship between empty space between the jaws, boundary of the object, and center of mass. This allows the CNN to have a strong resiliency to image and sensor noise, showing marked improvements in a metric where the classical methods tend to fail.</a:t>
            </a:r>
          </a:p>
        </p:txBody>
      </p:sp>
      <p:sp>
        <p:nvSpPr>
          <p:cNvPr id="43" name="TextBox 42">
            <a:extLst>
              <a:ext uri="{FF2B5EF4-FFF2-40B4-BE49-F238E27FC236}">
                <a16:creationId xmlns:a16="http://schemas.microsoft.com/office/drawing/2014/main" id="{7A2A53B1-760C-35B4-D0B6-0283CC231451}"/>
              </a:ext>
            </a:extLst>
          </p:cNvPr>
          <p:cNvSpPr txBox="1"/>
          <p:nvPr/>
        </p:nvSpPr>
        <p:spPr>
          <a:xfrm>
            <a:off x="29794199" y="24384000"/>
            <a:ext cx="13212337" cy="3743262"/>
          </a:xfrm>
          <a:prstGeom prst="rect">
            <a:avLst/>
          </a:prstGeom>
          <a:noFill/>
        </p:spPr>
        <p:txBody>
          <a:bodyPr wrap="square" lIns="79925" tIns="39970" rIns="79925" bIns="39970" rtlCol="0">
            <a:spAutoFit/>
          </a:bodyPr>
          <a:lstStyle/>
          <a:p>
            <a:pPr marL="457200" indent="-457200">
              <a:buFont typeface="Arial" panose="020B0604020202020204" pitchFamily="34" charset="0"/>
              <a:buChar char="•"/>
            </a:pPr>
            <a:r>
              <a:rPr lang="en-US" sz="3400" b="0" baseline="0" dirty="0">
                <a:latin typeface="Calibri" panose="020F0502020204030204" pitchFamily="34" charset="0"/>
              </a:rPr>
              <a:t>The current model evaluates 3-DOF from a top down approach. The next progression of this model would be to incorporate depth data to allow for a 6-DOF grasp model, allowing the arm to approach the object at different angles and navigate complex geometries.</a:t>
            </a:r>
          </a:p>
          <a:p>
            <a:pPr marL="457200" indent="-457200">
              <a:buFont typeface="Arial" panose="020B0604020202020204" pitchFamily="34" charset="0"/>
              <a:buChar char="•"/>
            </a:pPr>
            <a:r>
              <a:rPr lang="en-US" sz="3400" dirty="0">
                <a:latin typeface="Calibri" panose="020F0502020204030204" pitchFamily="34" charset="0"/>
              </a:rPr>
              <a:t>By connecting this model to real hardware, this model has potential to be applied to a variety of real-world industries such as moving towards fully automated warehouses and medical/surgical robotics.</a:t>
            </a:r>
            <a:endParaRPr lang="en-US" sz="3400" b="0" baseline="0" dirty="0">
              <a:latin typeface="Calibri" panose="020F0502020204030204" pitchFamily="34" charset="0"/>
            </a:endParaRPr>
          </a:p>
        </p:txBody>
      </p:sp>
      <p:sp>
        <p:nvSpPr>
          <p:cNvPr id="44" name="TextBox 43">
            <a:extLst>
              <a:ext uri="{FF2B5EF4-FFF2-40B4-BE49-F238E27FC236}">
                <a16:creationId xmlns:a16="http://schemas.microsoft.com/office/drawing/2014/main" id="{FA98A994-F3CB-58F3-0085-753BD2BB7721}"/>
              </a:ext>
            </a:extLst>
          </p:cNvPr>
          <p:cNvSpPr txBox="1"/>
          <p:nvPr/>
        </p:nvSpPr>
        <p:spPr>
          <a:xfrm>
            <a:off x="29794200" y="30425231"/>
            <a:ext cx="13212336" cy="1127161"/>
          </a:xfrm>
          <a:prstGeom prst="rect">
            <a:avLst/>
          </a:prstGeom>
          <a:noFill/>
        </p:spPr>
        <p:txBody>
          <a:bodyPr wrap="square" lIns="79925" tIns="39970" rIns="79925" bIns="39970" rtlCol="0">
            <a:spAutoFit/>
          </a:bodyPr>
          <a:lstStyle/>
          <a:p>
            <a:r>
              <a:rPr lang="en-US" sz="3400" dirty="0"/>
              <a:t>OneOneLiu (2020). </a:t>
            </a:r>
            <a:r>
              <a:rPr lang="en-US" sz="3400" i="1" dirty="0"/>
              <a:t>cornell_grasp.</a:t>
            </a:r>
            <a:r>
              <a:rPr lang="en-US" sz="3400" dirty="0"/>
              <a:t> [online] Kaggle.com. Available at:</a:t>
            </a:r>
          </a:p>
          <a:p>
            <a:r>
              <a:rPr lang="en-US" sz="3400" dirty="0"/>
              <a:t>https://www.kaggle.com/datasets/oneoneliu/cornell-grasp.</a:t>
            </a:r>
          </a:p>
        </p:txBody>
      </p:sp>
      <p:pic>
        <p:nvPicPr>
          <p:cNvPr id="45" name="Picture 9">
            <a:extLst>
              <a:ext uri="{FF2B5EF4-FFF2-40B4-BE49-F238E27FC236}">
                <a16:creationId xmlns:a16="http://schemas.microsoft.com/office/drawing/2014/main" id="{BB8AF97F-51A1-6B57-FD8B-56B5AB1C4377}"/>
              </a:ext>
            </a:extLst>
          </p:cNvPr>
          <p:cNvPicPr>
            <a:picLocks noChangeAspect="1" noChangeArrowheads="1"/>
          </p:cNvPicPr>
          <p:nvPr/>
        </p:nvPicPr>
        <p:blipFill>
          <a:blip r:embed="rId3"/>
          <a:srcRect/>
          <a:stretch/>
        </p:blipFill>
        <p:spPr bwMode="auto">
          <a:xfrm>
            <a:off x="2223524" y="1962291"/>
            <a:ext cx="8856221" cy="2263089"/>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16">
            <a:extLst>
              <a:ext uri="{FF2B5EF4-FFF2-40B4-BE49-F238E27FC236}">
                <a16:creationId xmlns:a16="http://schemas.microsoft.com/office/drawing/2014/main" id="{3EA1DE7C-F25D-6FBA-0583-D792C6CB539C}"/>
              </a:ext>
            </a:extLst>
          </p:cNvPr>
          <p:cNvSpPr txBox="1">
            <a:spLocks noChangeArrowheads="1"/>
          </p:cNvSpPr>
          <p:nvPr/>
        </p:nvSpPr>
        <p:spPr bwMode="auto">
          <a:xfrm>
            <a:off x="34531816" y="1041783"/>
            <a:ext cx="8880051" cy="229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9925" tIns="39970" rIns="79925" bIns="39970" anchor="t">
            <a:spAutoFit/>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r"/>
            <a:r>
              <a:rPr lang="en-US" sz="4800" baseline="0" dirty="0">
                <a:latin typeface="Arial"/>
                <a:ea typeface="SimSun"/>
                <a:cs typeface="Arial"/>
              </a:rPr>
              <a:t>Applied Deep Learning for Engineering Mechanics  </a:t>
            </a:r>
          </a:p>
          <a:p>
            <a:pPr algn="r"/>
            <a:r>
              <a:rPr lang="en-US" sz="4800" b="0" baseline="0" dirty="0">
                <a:latin typeface="Arial"/>
                <a:ea typeface="SimSun"/>
                <a:cs typeface="Arial"/>
              </a:rPr>
              <a:t>Class Project</a:t>
            </a:r>
            <a:endParaRPr lang="en-US" sz="4800" b="0" dirty="0"/>
          </a:p>
        </p:txBody>
      </p:sp>
      <p:pic>
        <p:nvPicPr>
          <p:cNvPr id="1026" name="Picture 2" descr="Google's Robots Are Learning How To Pick Things Up">
            <a:extLst>
              <a:ext uri="{FF2B5EF4-FFF2-40B4-BE49-F238E27FC236}">
                <a16:creationId xmlns:a16="http://schemas.microsoft.com/office/drawing/2014/main" id="{E741F49E-1B7C-E56B-6506-27A9838F1E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0874" y="25091911"/>
            <a:ext cx="8886825" cy="671046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8B2898B-1A76-A689-51E7-D087972AF97C}"/>
              </a:ext>
            </a:extLst>
          </p:cNvPr>
          <p:cNvPicPr>
            <a:picLocks noChangeAspect="1"/>
          </p:cNvPicPr>
          <p:nvPr/>
        </p:nvPicPr>
        <p:blipFill>
          <a:blip r:embed="rId5"/>
          <a:srcRect l="902" r="2070"/>
          <a:stretch>
            <a:fillRect/>
          </a:stretch>
        </p:blipFill>
        <p:spPr>
          <a:xfrm>
            <a:off x="15189469" y="14017480"/>
            <a:ext cx="13638193" cy="3711231"/>
          </a:xfrm>
          <a:prstGeom prst="rect">
            <a:avLst/>
          </a:prstGeom>
        </p:spPr>
      </p:pic>
      <p:pic>
        <p:nvPicPr>
          <p:cNvPr id="9" name="Picture 8">
            <a:extLst>
              <a:ext uri="{FF2B5EF4-FFF2-40B4-BE49-F238E27FC236}">
                <a16:creationId xmlns:a16="http://schemas.microsoft.com/office/drawing/2014/main" id="{9F1F018C-F426-8584-7F08-19487E5EEF01}"/>
              </a:ext>
            </a:extLst>
          </p:cNvPr>
          <p:cNvPicPr>
            <a:picLocks noChangeAspect="1"/>
          </p:cNvPicPr>
          <p:nvPr/>
        </p:nvPicPr>
        <p:blipFill>
          <a:blip r:embed="rId6"/>
          <a:stretch>
            <a:fillRect/>
          </a:stretch>
        </p:blipFill>
        <p:spPr>
          <a:xfrm>
            <a:off x="30301772" y="6551889"/>
            <a:ext cx="12298491" cy="3820058"/>
          </a:xfrm>
          <a:prstGeom prst="rect">
            <a:avLst/>
          </a:prstGeom>
        </p:spPr>
      </p:pic>
      <p:pic>
        <p:nvPicPr>
          <p:cNvPr id="14" name="Picture 13">
            <a:extLst>
              <a:ext uri="{FF2B5EF4-FFF2-40B4-BE49-F238E27FC236}">
                <a16:creationId xmlns:a16="http://schemas.microsoft.com/office/drawing/2014/main" id="{2AFBB0FD-6C91-E57B-00FB-E87A12199684}"/>
              </a:ext>
            </a:extLst>
          </p:cNvPr>
          <p:cNvPicPr>
            <a:picLocks noChangeAspect="1"/>
          </p:cNvPicPr>
          <p:nvPr/>
        </p:nvPicPr>
        <p:blipFill>
          <a:blip r:embed="rId7"/>
          <a:stretch>
            <a:fillRect/>
          </a:stretch>
        </p:blipFill>
        <p:spPr>
          <a:xfrm>
            <a:off x="38851639" y="10557818"/>
            <a:ext cx="4062258" cy="3283943"/>
          </a:xfrm>
          <a:prstGeom prst="rect">
            <a:avLst/>
          </a:prstGeom>
        </p:spPr>
      </p:pic>
      <p:pic>
        <p:nvPicPr>
          <p:cNvPr id="17" name="Picture 16">
            <a:extLst>
              <a:ext uri="{FF2B5EF4-FFF2-40B4-BE49-F238E27FC236}">
                <a16:creationId xmlns:a16="http://schemas.microsoft.com/office/drawing/2014/main" id="{D313627C-5946-85AC-1EFB-7539CCED776A}"/>
              </a:ext>
            </a:extLst>
          </p:cNvPr>
          <p:cNvPicPr>
            <a:picLocks noChangeAspect="1"/>
          </p:cNvPicPr>
          <p:nvPr/>
        </p:nvPicPr>
        <p:blipFill>
          <a:blip r:embed="rId8"/>
          <a:stretch>
            <a:fillRect/>
          </a:stretch>
        </p:blipFill>
        <p:spPr>
          <a:xfrm>
            <a:off x="30041201" y="14447381"/>
            <a:ext cx="4611732" cy="3152323"/>
          </a:xfrm>
          <a:prstGeom prst="rect">
            <a:avLst/>
          </a:prstGeom>
        </p:spPr>
      </p:pic>
      <p:sp>
        <p:nvSpPr>
          <p:cNvPr id="4" name="Rectangle: Rounded Corners 3">
            <a:extLst>
              <a:ext uri="{FF2B5EF4-FFF2-40B4-BE49-F238E27FC236}">
                <a16:creationId xmlns:a16="http://schemas.microsoft.com/office/drawing/2014/main" id="{8C3CA739-E89E-3DAB-E950-CFB9357A0B4B}"/>
              </a:ext>
            </a:extLst>
          </p:cNvPr>
          <p:cNvSpPr/>
          <p:nvPr/>
        </p:nvSpPr>
        <p:spPr>
          <a:xfrm>
            <a:off x="15332217" y="26548298"/>
            <a:ext cx="2710543" cy="1121766"/>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Image Patch</a:t>
            </a:r>
          </a:p>
          <a:p>
            <a:pPr algn="ctr"/>
            <a:r>
              <a:rPr lang="en-US" sz="2400" dirty="0">
                <a:solidFill>
                  <a:schemeClr val="tx1"/>
                </a:solidFill>
              </a:rPr>
              <a:t> (96 x 96 x 3)</a:t>
            </a:r>
          </a:p>
        </p:txBody>
      </p:sp>
      <p:sp>
        <p:nvSpPr>
          <p:cNvPr id="8" name="Rectangle: Rounded Corners 7">
            <a:extLst>
              <a:ext uri="{FF2B5EF4-FFF2-40B4-BE49-F238E27FC236}">
                <a16:creationId xmlns:a16="http://schemas.microsoft.com/office/drawing/2014/main" id="{DBC75C2A-AC80-9B13-76F1-28FA851555B4}"/>
              </a:ext>
            </a:extLst>
          </p:cNvPr>
          <p:cNvSpPr/>
          <p:nvPr/>
        </p:nvSpPr>
        <p:spPr>
          <a:xfrm>
            <a:off x="19057829" y="25925843"/>
            <a:ext cx="2710543" cy="1121766"/>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2nd Conv. Blocks</a:t>
            </a:r>
          </a:p>
          <a:p>
            <a:pPr marL="0" marR="0" lvl="0" indent="0" algn="ctr" defTabSz="219456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Calibri"/>
              </a:rPr>
              <a:t>24</a:t>
            </a:r>
            <a:r>
              <a:rPr kumimoji="0" lang="en-US" sz="2000" b="0" i="0" u="none" strike="noStrike" kern="1200" cap="none" spc="0" normalizeH="0" baseline="0" noProof="0" dirty="0">
                <a:ln>
                  <a:noFill/>
                </a:ln>
                <a:solidFill>
                  <a:prstClr val="black"/>
                </a:solidFill>
                <a:effectLst/>
                <a:uLnTx/>
                <a:uFillTx/>
                <a:latin typeface="Calibri"/>
                <a:ea typeface="+mn-ea"/>
                <a:cs typeface="+mn-cs"/>
              </a:rPr>
              <a:t>x24</a:t>
            </a:r>
          </a:p>
          <a:p>
            <a:pPr marL="0" marR="0" lvl="0" indent="0" algn="ctr" defTabSz="219456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Calibri"/>
              </a:rPr>
              <a:t>64</a:t>
            </a:r>
            <a:r>
              <a:rPr kumimoji="0" lang="en-US" sz="2000" b="0" i="0" u="none" strike="noStrike" kern="1200" cap="none" spc="0" normalizeH="0" baseline="0" noProof="0" dirty="0">
                <a:ln>
                  <a:noFill/>
                </a:ln>
                <a:solidFill>
                  <a:prstClr val="black"/>
                </a:solidFill>
                <a:effectLst/>
                <a:uLnTx/>
                <a:uFillTx/>
                <a:latin typeface="Calibri"/>
                <a:ea typeface="+mn-ea"/>
                <a:cs typeface="+mn-cs"/>
              </a:rPr>
              <a:t> filters * (3x3)</a:t>
            </a:r>
          </a:p>
        </p:txBody>
      </p:sp>
      <p:sp>
        <p:nvSpPr>
          <p:cNvPr id="10" name="Rectangle: Rounded Corners 9">
            <a:extLst>
              <a:ext uri="{FF2B5EF4-FFF2-40B4-BE49-F238E27FC236}">
                <a16:creationId xmlns:a16="http://schemas.microsoft.com/office/drawing/2014/main" id="{49D359EB-F4E6-FC90-C2CA-28B2153F3D49}"/>
              </a:ext>
            </a:extLst>
          </p:cNvPr>
          <p:cNvSpPr/>
          <p:nvPr/>
        </p:nvSpPr>
        <p:spPr>
          <a:xfrm>
            <a:off x="22343062" y="24241050"/>
            <a:ext cx="2829632" cy="1326558"/>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Regularization</a:t>
            </a:r>
          </a:p>
          <a:p>
            <a:pPr algn="ctr"/>
            <a:r>
              <a:rPr lang="en-US" sz="2000" dirty="0" err="1">
                <a:solidFill>
                  <a:schemeClr val="tx1"/>
                </a:solidFill>
              </a:rPr>
              <a:t>MaxPooling</a:t>
            </a:r>
            <a:r>
              <a:rPr lang="en-US" sz="2000" dirty="0">
                <a:solidFill>
                  <a:schemeClr val="tx1"/>
                </a:solidFill>
              </a:rPr>
              <a:t> + </a:t>
            </a:r>
            <a:r>
              <a:rPr lang="en-US" sz="2000" dirty="0" err="1">
                <a:solidFill>
                  <a:schemeClr val="tx1"/>
                </a:solidFill>
              </a:rPr>
              <a:t>BatchNorm</a:t>
            </a:r>
            <a:r>
              <a:rPr lang="en-US" sz="2000" dirty="0">
                <a:solidFill>
                  <a:schemeClr val="tx1"/>
                </a:solidFill>
              </a:rPr>
              <a:t> after every conv</a:t>
            </a:r>
          </a:p>
        </p:txBody>
      </p:sp>
      <p:sp>
        <p:nvSpPr>
          <p:cNvPr id="12" name="Rectangle: Rounded Corners 11">
            <a:extLst>
              <a:ext uri="{FF2B5EF4-FFF2-40B4-BE49-F238E27FC236}">
                <a16:creationId xmlns:a16="http://schemas.microsoft.com/office/drawing/2014/main" id="{22D89778-764A-7DA5-53D0-0FA86B6E221A}"/>
              </a:ext>
            </a:extLst>
          </p:cNvPr>
          <p:cNvSpPr/>
          <p:nvPr/>
        </p:nvSpPr>
        <p:spPr>
          <a:xfrm>
            <a:off x="25776239" y="25076620"/>
            <a:ext cx="2710543" cy="1121766"/>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Dense Head</a:t>
            </a:r>
          </a:p>
          <a:p>
            <a:pPr algn="ctr"/>
            <a:r>
              <a:rPr lang="en-US" sz="2000" dirty="0">
                <a:solidFill>
                  <a:schemeClr val="tx1"/>
                </a:solidFill>
              </a:rPr>
              <a:t>256 neurons*</a:t>
            </a:r>
            <a:r>
              <a:rPr lang="en-US" sz="2000" dirty="0" err="1">
                <a:solidFill>
                  <a:schemeClr val="tx1"/>
                </a:solidFill>
              </a:rPr>
              <a:t>ReLU</a:t>
            </a:r>
            <a:r>
              <a:rPr lang="en-US" sz="2000" dirty="0">
                <a:solidFill>
                  <a:schemeClr val="tx1"/>
                </a:solidFill>
              </a:rPr>
              <a:t>, Dropout 0.5</a:t>
            </a:r>
          </a:p>
        </p:txBody>
      </p:sp>
      <p:sp>
        <p:nvSpPr>
          <p:cNvPr id="15" name="Rectangle: Rounded Corners 14">
            <a:extLst>
              <a:ext uri="{FF2B5EF4-FFF2-40B4-BE49-F238E27FC236}">
                <a16:creationId xmlns:a16="http://schemas.microsoft.com/office/drawing/2014/main" id="{3E5EA742-E622-CEBB-A481-63C00A831AC1}"/>
              </a:ext>
            </a:extLst>
          </p:cNvPr>
          <p:cNvSpPr/>
          <p:nvPr/>
        </p:nvSpPr>
        <p:spPr>
          <a:xfrm>
            <a:off x="22602868" y="26596123"/>
            <a:ext cx="2710543" cy="11217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Flatten</a:t>
            </a:r>
          </a:p>
          <a:p>
            <a:pPr algn="ctr"/>
            <a:r>
              <a:rPr lang="en-US" sz="2400" dirty="0">
                <a:solidFill>
                  <a:schemeClr val="tx1"/>
                </a:solidFill>
              </a:rPr>
              <a:t>9,216 units</a:t>
            </a:r>
          </a:p>
        </p:txBody>
      </p:sp>
      <p:cxnSp>
        <p:nvCxnSpPr>
          <p:cNvPr id="52" name="Straight Arrow Connector 51">
            <a:extLst>
              <a:ext uri="{FF2B5EF4-FFF2-40B4-BE49-F238E27FC236}">
                <a16:creationId xmlns:a16="http://schemas.microsoft.com/office/drawing/2014/main" id="{F7E85BB3-0A2C-293C-7996-AF208631AA0D}"/>
              </a:ext>
            </a:extLst>
          </p:cNvPr>
          <p:cNvCxnSpPr>
            <a:cxnSpLocks/>
            <a:stCxn id="12" idx="2"/>
            <a:endCxn id="1052" idx="0"/>
          </p:cNvCxnSpPr>
          <p:nvPr/>
        </p:nvCxnSpPr>
        <p:spPr>
          <a:xfrm flipH="1">
            <a:off x="27127239" y="26198386"/>
            <a:ext cx="4272" cy="4592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24" name="Rectangle: Rounded Corners 1023">
            <a:extLst>
              <a:ext uri="{FF2B5EF4-FFF2-40B4-BE49-F238E27FC236}">
                <a16:creationId xmlns:a16="http://schemas.microsoft.com/office/drawing/2014/main" id="{11C19335-B76A-C955-18CA-D9E7E5A81CE6}"/>
              </a:ext>
            </a:extLst>
          </p:cNvPr>
          <p:cNvSpPr/>
          <p:nvPr/>
        </p:nvSpPr>
        <p:spPr>
          <a:xfrm>
            <a:off x="19057830" y="27507761"/>
            <a:ext cx="2710543" cy="1121766"/>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3rd Conv. Blocks</a:t>
            </a:r>
          </a:p>
          <a:p>
            <a:pPr marL="0" marR="0" lvl="0" indent="0" algn="ctr" defTabSz="219456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12x12</a:t>
            </a:r>
          </a:p>
          <a:p>
            <a:pPr marL="0" marR="0" lvl="0" indent="0" algn="ctr" defTabSz="219456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Calibri"/>
              </a:rPr>
              <a:t>128</a:t>
            </a:r>
            <a:r>
              <a:rPr kumimoji="0" lang="en-US" sz="2000" b="0" i="0" u="none" strike="noStrike" kern="1200" cap="none" spc="0" normalizeH="0" baseline="0" noProof="0" dirty="0">
                <a:ln>
                  <a:noFill/>
                </a:ln>
                <a:solidFill>
                  <a:prstClr val="black"/>
                </a:solidFill>
                <a:effectLst/>
                <a:uLnTx/>
                <a:uFillTx/>
                <a:latin typeface="Calibri"/>
                <a:ea typeface="+mn-ea"/>
                <a:cs typeface="+mn-cs"/>
              </a:rPr>
              <a:t> filters * (3x3)</a:t>
            </a:r>
          </a:p>
        </p:txBody>
      </p:sp>
      <p:sp>
        <p:nvSpPr>
          <p:cNvPr id="1025" name="Rectangle: Rounded Corners 1024">
            <a:extLst>
              <a:ext uri="{FF2B5EF4-FFF2-40B4-BE49-F238E27FC236}">
                <a16:creationId xmlns:a16="http://schemas.microsoft.com/office/drawing/2014/main" id="{2A39F951-5382-94FF-05FA-82CDC8C709B4}"/>
              </a:ext>
            </a:extLst>
          </p:cNvPr>
          <p:cNvSpPr/>
          <p:nvPr/>
        </p:nvSpPr>
        <p:spPr>
          <a:xfrm>
            <a:off x="19057831" y="24343446"/>
            <a:ext cx="2710543" cy="1121766"/>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1st Conv. Block</a:t>
            </a:r>
          </a:p>
          <a:p>
            <a:pPr algn="ctr"/>
            <a:r>
              <a:rPr lang="en-US" sz="2000" dirty="0">
                <a:solidFill>
                  <a:schemeClr val="tx1"/>
                </a:solidFill>
              </a:rPr>
              <a:t>48x48</a:t>
            </a:r>
          </a:p>
          <a:p>
            <a:pPr algn="ctr"/>
            <a:r>
              <a:rPr lang="en-US" sz="2000" dirty="0">
                <a:solidFill>
                  <a:schemeClr val="tx1"/>
                </a:solidFill>
              </a:rPr>
              <a:t>32 filters * (5x5)</a:t>
            </a:r>
          </a:p>
        </p:txBody>
      </p:sp>
      <p:sp>
        <p:nvSpPr>
          <p:cNvPr id="1027" name="Rectangle: Rounded Corners 1026">
            <a:extLst>
              <a:ext uri="{FF2B5EF4-FFF2-40B4-BE49-F238E27FC236}">
                <a16:creationId xmlns:a16="http://schemas.microsoft.com/office/drawing/2014/main" id="{88110354-F48F-3DAD-C23F-3443D4F04DE2}"/>
              </a:ext>
            </a:extLst>
          </p:cNvPr>
          <p:cNvSpPr/>
          <p:nvPr/>
        </p:nvSpPr>
        <p:spPr>
          <a:xfrm>
            <a:off x="19057828" y="29090638"/>
            <a:ext cx="2710543" cy="1121766"/>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4th Conv. Blocks</a:t>
            </a:r>
          </a:p>
          <a:p>
            <a:pPr marL="0" marR="0" lvl="0" indent="0" algn="ctr" defTabSz="219456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Calibri"/>
              </a:rPr>
              <a:t>6</a:t>
            </a:r>
            <a:r>
              <a:rPr kumimoji="0" lang="en-US" sz="2000" b="0" i="0" u="none" strike="noStrike" kern="1200" cap="none" spc="0" normalizeH="0" baseline="0" noProof="0" dirty="0">
                <a:ln>
                  <a:noFill/>
                </a:ln>
                <a:solidFill>
                  <a:prstClr val="black"/>
                </a:solidFill>
                <a:effectLst/>
                <a:uLnTx/>
                <a:uFillTx/>
                <a:latin typeface="Calibri"/>
                <a:ea typeface="+mn-ea"/>
                <a:cs typeface="+mn-cs"/>
              </a:rPr>
              <a:t>x6</a:t>
            </a:r>
          </a:p>
          <a:p>
            <a:pPr marL="0" marR="0" lvl="0" indent="0" algn="ctr" defTabSz="219456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Calibri"/>
              </a:rPr>
              <a:t>256</a:t>
            </a:r>
            <a:r>
              <a:rPr kumimoji="0" lang="en-US" sz="2000" b="0" i="0" u="none" strike="noStrike" kern="1200" cap="none" spc="0" normalizeH="0" baseline="0" noProof="0" dirty="0">
                <a:ln>
                  <a:noFill/>
                </a:ln>
                <a:solidFill>
                  <a:prstClr val="black"/>
                </a:solidFill>
                <a:effectLst/>
                <a:uLnTx/>
                <a:uFillTx/>
                <a:latin typeface="Calibri"/>
                <a:ea typeface="+mn-ea"/>
                <a:cs typeface="+mn-cs"/>
              </a:rPr>
              <a:t> filters * (3x3)</a:t>
            </a:r>
          </a:p>
        </p:txBody>
      </p:sp>
      <p:cxnSp>
        <p:nvCxnSpPr>
          <p:cNvPr id="1032" name="Connector: Curved 1031">
            <a:extLst>
              <a:ext uri="{FF2B5EF4-FFF2-40B4-BE49-F238E27FC236}">
                <a16:creationId xmlns:a16="http://schemas.microsoft.com/office/drawing/2014/main" id="{8B49035A-6AE8-C8BF-705A-47302A1BF7A9}"/>
              </a:ext>
            </a:extLst>
          </p:cNvPr>
          <p:cNvCxnSpPr>
            <a:stCxn id="4" idx="3"/>
            <a:endCxn id="1025" idx="1"/>
          </p:cNvCxnSpPr>
          <p:nvPr/>
        </p:nvCxnSpPr>
        <p:spPr>
          <a:xfrm flipV="1">
            <a:off x="18042760" y="24904329"/>
            <a:ext cx="1015071" cy="2204852"/>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34" name="Straight Arrow Connector 1033">
            <a:extLst>
              <a:ext uri="{FF2B5EF4-FFF2-40B4-BE49-F238E27FC236}">
                <a16:creationId xmlns:a16="http://schemas.microsoft.com/office/drawing/2014/main" id="{F24DD774-FEC1-2955-D2AB-D6A8FD13C0C6}"/>
              </a:ext>
            </a:extLst>
          </p:cNvPr>
          <p:cNvCxnSpPr>
            <a:cxnSpLocks/>
          </p:cNvCxnSpPr>
          <p:nvPr/>
        </p:nvCxnSpPr>
        <p:spPr>
          <a:xfrm>
            <a:off x="20417370" y="28605939"/>
            <a:ext cx="0" cy="4601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35" name="Straight Arrow Connector 1034">
            <a:extLst>
              <a:ext uri="{FF2B5EF4-FFF2-40B4-BE49-F238E27FC236}">
                <a16:creationId xmlns:a16="http://schemas.microsoft.com/office/drawing/2014/main" id="{F1528DC3-165D-CA52-A6E3-935DA9B96FC0}"/>
              </a:ext>
            </a:extLst>
          </p:cNvPr>
          <p:cNvCxnSpPr>
            <a:cxnSpLocks/>
          </p:cNvCxnSpPr>
          <p:nvPr/>
        </p:nvCxnSpPr>
        <p:spPr>
          <a:xfrm>
            <a:off x="20415235" y="27047609"/>
            <a:ext cx="0" cy="4601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36" name="Straight Arrow Connector 1035">
            <a:extLst>
              <a:ext uri="{FF2B5EF4-FFF2-40B4-BE49-F238E27FC236}">
                <a16:creationId xmlns:a16="http://schemas.microsoft.com/office/drawing/2014/main" id="{AF0ACC08-6E2B-3FAE-D413-090C9566EC55}"/>
              </a:ext>
            </a:extLst>
          </p:cNvPr>
          <p:cNvCxnSpPr>
            <a:cxnSpLocks/>
          </p:cNvCxnSpPr>
          <p:nvPr/>
        </p:nvCxnSpPr>
        <p:spPr>
          <a:xfrm>
            <a:off x="20415235" y="25465691"/>
            <a:ext cx="0" cy="4601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39" name="Straight Arrow Connector 1038">
            <a:extLst>
              <a:ext uri="{FF2B5EF4-FFF2-40B4-BE49-F238E27FC236}">
                <a16:creationId xmlns:a16="http://schemas.microsoft.com/office/drawing/2014/main" id="{048562BD-AFA0-315D-0A17-40C88EE70578}"/>
              </a:ext>
            </a:extLst>
          </p:cNvPr>
          <p:cNvCxnSpPr>
            <a:cxnSpLocks/>
            <a:stCxn id="1025" idx="3"/>
            <a:endCxn id="10" idx="1"/>
          </p:cNvCxnSpPr>
          <p:nvPr/>
        </p:nvCxnSpPr>
        <p:spPr>
          <a:xfrm>
            <a:off x="21768374" y="24904329"/>
            <a:ext cx="574688" cy="0"/>
          </a:xfrm>
          <a:prstGeom prst="straightConnector1">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8" name="Connector: Curved 1047">
            <a:extLst>
              <a:ext uri="{FF2B5EF4-FFF2-40B4-BE49-F238E27FC236}">
                <a16:creationId xmlns:a16="http://schemas.microsoft.com/office/drawing/2014/main" id="{1321A582-51DA-D6E7-50B2-E497D75E1B58}"/>
              </a:ext>
            </a:extLst>
          </p:cNvPr>
          <p:cNvCxnSpPr>
            <a:cxnSpLocks/>
            <a:stCxn id="1027" idx="3"/>
            <a:endCxn id="15" idx="1"/>
          </p:cNvCxnSpPr>
          <p:nvPr/>
        </p:nvCxnSpPr>
        <p:spPr>
          <a:xfrm flipV="1">
            <a:off x="21768371" y="27157006"/>
            <a:ext cx="834497" cy="2494515"/>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1052" name="Rectangle: Rounded Corners 1051">
            <a:extLst>
              <a:ext uri="{FF2B5EF4-FFF2-40B4-BE49-F238E27FC236}">
                <a16:creationId xmlns:a16="http://schemas.microsoft.com/office/drawing/2014/main" id="{2C7E90F6-0EDB-C378-84AB-A50A04153CC4}"/>
              </a:ext>
            </a:extLst>
          </p:cNvPr>
          <p:cNvSpPr/>
          <p:nvPr/>
        </p:nvSpPr>
        <p:spPr>
          <a:xfrm>
            <a:off x="25771967" y="26657609"/>
            <a:ext cx="2710543" cy="1121766"/>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Dense Head</a:t>
            </a:r>
          </a:p>
          <a:p>
            <a:pPr marL="0" marR="0" lvl="0" indent="0" algn="ctr" defTabSz="219456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Calibri"/>
              </a:rPr>
              <a:t>128 neurons</a:t>
            </a:r>
            <a:r>
              <a:rPr kumimoji="0" lang="en-US" sz="2000" b="0" i="0" u="none" strike="noStrike" kern="1200" cap="none" spc="0" normalizeH="0" baseline="0" noProof="0" dirty="0">
                <a:ln>
                  <a:noFill/>
                </a:ln>
                <a:solidFill>
                  <a:prstClr val="black"/>
                </a:solidFill>
                <a:effectLst/>
                <a:uLnTx/>
                <a:uFillTx/>
                <a:latin typeface="Calibri"/>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a:ea typeface="+mn-ea"/>
                <a:cs typeface="+mn-cs"/>
              </a:rPr>
              <a:t>ReLU</a:t>
            </a:r>
            <a:r>
              <a:rPr kumimoji="0" lang="en-US" sz="2000" b="0" i="0" u="none" strike="noStrike" kern="1200" cap="none" spc="0" normalizeH="0" baseline="0" noProof="0" dirty="0">
                <a:ln>
                  <a:noFill/>
                </a:ln>
                <a:solidFill>
                  <a:prstClr val="black"/>
                </a:solidFill>
                <a:effectLst/>
                <a:uLnTx/>
                <a:uFillTx/>
                <a:latin typeface="Calibri"/>
                <a:ea typeface="+mn-ea"/>
                <a:cs typeface="+mn-cs"/>
              </a:rPr>
              <a:t>, Dropout 0.3</a:t>
            </a:r>
          </a:p>
        </p:txBody>
      </p:sp>
      <p:cxnSp>
        <p:nvCxnSpPr>
          <p:cNvPr id="1063" name="Connector: Curved 1062">
            <a:extLst>
              <a:ext uri="{FF2B5EF4-FFF2-40B4-BE49-F238E27FC236}">
                <a16:creationId xmlns:a16="http://schemas.microsoft.com/office/drawing/2014/main" id="{E132F91D-0718-2827-1C90-57A8F32F9B8D}"/>
              </a:ext>
            </a:extLst>
          </p:cNvPr>
          <p:cNvCxnSpPr>
            <a:cxnSpLocks/>
            <a:stCxn id="15" idx="3"/>
            <a:endCxn id="12" idx="1"/>
          </p:cNvCxnSpPr>
          <p:nvPr/>
        </p:nvCxnSpPr>
        <p:spPr>
          <a:xfrm flipV="1">
            <a:off x="25313411" y="25637503"/>
            <a:ext cx="462828" cy="1519503"/>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66" name="Straight Arrow Connector 1065">
            <a:extLst>
              <a:ext uri="{FF2B5EF4-FFF2-40B4-BE49-F238E27FC236}">
                <a16:creationId xmlns:a16="http://schemas.microsoft.com/office/drawing/2014/main" id="{8E80B7DB-7787-09F2-7935-A3D197112262}"/>
              </a:ext>
            </a:extLst>
          </p:cNvPr>
          <p:cNvCxnSpPr>
            <a:cxnSpLocks/>
            <a:stCxn id="1052" idx="2"/>
          </p:cNvCxnSpPr>
          <p:nvPr/>
        </p:nvCxnSpPr>
        <p:spPr>
          <a:xfrm>
            <a:off x="27127239" y="27779375"/>
            <a:ext cx="4272" cy="4346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69" name="Rectangle: Rounded Corners 1068">
            <a:extLst>
              <a:ext uri="{FF2B5EF4-FFF2-40B4-BE49-F238E27FC236}">
                <a16:creationId xmlns:a16="http://schemas.microsoft.com/office/drawing/2014/main" id="{AD827EC3-6CB8-A2FF-4C0A-ECFEFD155DFF}"/>
              </a:ext>
            </a:extLst>
          </p:cNvPr>
          <p:cNvSpPr/>
          <p:nvPr/>
        </p:nvSpPr>
        <p:spPr>
          <a:xfrm>
            <a:off x="25807626" y="28214061"/>
            <a:ext cx="2710543" cy="1121766"/>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Output</a:t>
            </a:r>
          </a:p>
          <a:p>
            <a:pPr algn="ctr"/>
            <a:r>
              <a:rPr lang="en-US" sz="2000" dirty="0">
                <a:solidFill>
                  <a:schemeClr val="tx1"/>
                </a:solidFill>
              </a:rPr>
              <a:t>Sigmoid, Success probability from 0-1</a:t>
            </a:r>
          </a:p>
        </p:txBody>
      </p:sp>
      <p:sp>
        <p:nvSpPr>
          <p:cNvPr id="1070" name="Rectangle: Rounded Corners 1069">
            <a:extLst>
              <a:ext uri="{FF2B5EF4-FFF2-40B4-BE49-F238E27FC236}">
                <a16:creationId xmlns:a16="http://schemas.microsoft.com/office/drawing/2014/main" id="{9026B340-FF4B-94C7-D35E-ECCD9B6A7B95}"/>
              </a:ext>
            </a:extLst>
          </p:cNvPr>
          <p:cNvSpPr/>
          <p:nvPr/>
        </p:nvSpPr>
        <p:spPr>
          <a:xfrm>
            <a:off x="15161743" y="30533092"/>
            <a:ext cx="3735857" cy="1758528"/>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Training</a:t>
            </a:r>
          </a:p>
          <a:p>
            <a:pPr algn="ctr"/>
            <a:r>
              <a:rPr lang="en-US" sz="2000" dirty="0" err="1">
                <a:solidFill>
                  <a:schemeClr val="tx1"/>
                </a:solidFill>
              </a:rPr>
              <a:t>Optimiser</a:t>
            </a:r>
            <a:r>
              <a:rPr lang="en-US" sz="2000" dirty="0">
                <a:solidFill>
                  <a:schemeClr val="tx1"/>
                </a:solidFill>
              </a:rPr>
              <a:t>: Adam, </a:t>
            </a:r>
            <a:r>
              <a:rPr lang="en-US" sz="2000" dirty="0" err="1">
                <a:solidFill>
                  <a:schemeClr val="tx1"/>
                </a:solidFill>
              </a:rPr>
              <a:t>lr</a:t>
            </a:r>
            <a:r>
              <a:rPr lang="en-US" sz="2000" dirty="0">
                <a:solidFill>
                  <a:schemeClr val="tx1"/>
                </a:solidFill>
              </a:rPr>
              <a:t> =1e-3</a:t>
            </a:r>
          </a:p>
          <a:p>
            <a:pPr algn="ctr"/>
            <a:r>
              <a:rPr lang="en-US" sz="2000" dirty="0">
                <a:solidFill>
                  <a:schemeClr val="tx1"/>
                </a:solidFill>
              </a:rPr>
              <a:t>LR Reduction: /2 after 3 </a:t>
            </a:r>
            <a:r>
              <a:rPr lang="en-US" sz="2000" dirty="0" err="1">
                <a:solidFill>
                  <a:schemeClr val="tx1"/>
                </a:solidFill>
              </a:rPr>
              <a:t>plateus</a:t>
            </a:r>
            <a:endParaRPr lang="en-US" sz="2000" dirty="0">
              <a:solidFill>
                <a:schemeClr val="tx1"/>
              </a:solidFill>
            </a:endParaRPr>
          </a:p>
          <a:p>
            <a:pPr algn="ctr"/>
            <a:r>
              <a:rPr lang="en-US" sz="2000" dirty="0">
                <a:solidFill>
                  <a:schemeClr val="tx1"/>
                </a:solidFill>
              </a:rPr>
              <a:t>Patience: 7 Epochs</a:t>
            </a:r>
          </a:p>
          <a:p>
            <a:pPr algn="ctr"/>
            <a:r>
              <a:rPr lang="en-US" sz="2000" dirty="0">
                <a:solidFill>
                  <a:schemeClr val="tx1"/>
                </a:solidFill>
              </a:rPr>
              <a:t>Class Imbalance</a:t>
            </a:r>
          </a:p>
        </p:txBody>
      </p:sp>
      <p:pic>
        <p:nvPicPr>
          <p:cNvPr id="1072" name="Picture 1071">
            <a:extLst>
              <a:ext uri="{FF2B5EF4-FFF2-40B4-BE49-F238E27FC236}">
                <a16:creationId xmlns:a16="http://schemas.microsoft.com/office/drawing/2014/main" id="{FC2C0B7D-7B22-7DA3-36F3-9F2DADB25DD7}"/>
              </a:ext>
            </a:extLst>
          </p:cNvPr>
          <p:cNvPicPr>
            <a:picLocks noChangeAspect="1"/>
          </p:cNvPicPr>
          <p:nvPr/>
        </p:nvPicPr>
        <p:blipFill>
          <a:blip r:embed="rId9"/>
          <a:stretch>
            <a:fillRect/>
          </a:stretch>
        </p:blipFill>
        <p:spPr>
          <a:xfrm>
            <a:off x="35192765" y="14371181"/>
            <a:ext cx="7446276" cy="2966473"/>
          </a:xfrm>
          <a:prstGeom prst="rect">
            <a:avLst/>
          </a:prstGeom>
        </p:spPr>
      </p:pic>
      <p:pic>
        <p:nvPicPr>
          <p:cNvPr id="1074" name="Picture 1073">
            <a:extLst>
              <a:ext uri="{FF2B5EF4-FFF2-40B4-BE49-F238E27FC236}">
                <a16:creationId xmlns:a16="http://schemas.microsoft.com/office/drawing/2014/main" id="{137AA10C-36CA-F210-39EF-2F4545E75F73}"/>
              </a:ext>
            </a:extLst>
          </p:cNvPr>
          <p:cNvPicPr>
            <a:picLocks noChangeAspect="1"/>
          </p:cNvPicPr>
          <p:nvPr/>
        </p:nvPicPr>
        <p:blipFill>
          <a:blip r:embed="rId10"/>
          <a:stretch>
            <a:fillRect/>
          </a:stretch>
        </p:blipFill>
        <p:spPr>
          <a:xfrm>
            <a:off x="30041201" y="10672107"/>
            <a:ext cx="8428765" cy="296647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102DA1231611544B7633ABC55414EFF" ma:contentTypeVersion="17" ma:contentTypeDescription="Create a new document." ma:contentTypeScope="" ma:versionID="5fa979140ce30341f4780377ce301feb">
  <xsd:schema xmlns:xsd="http://www.w3.org/2001/XMLSchema" xmlns:xs="http://www.w3.org/2001/XMLSchema" xmlns:p="http://schemas.microsoft.com/office/2006/metadata/properties" xmlns:ns2="113e35d5-149a-42d0-9759-7e4251ca70ae" xmlns:ns3="7ea28f75-b447-4008-abb1-f022e6a61489" targetNamespace="http://schemas.microsoft.com/office/2006/metadata/properties" ma:root="true" ma:fieldsID="47d8b4c5f05c57c39bcda140eb90ea8c" ns2:_="" ns3:_="">
    <xsd:import namespace="113e35d5-149a-42d0-9759-7e4251ca70ae"/>
    <xsd:import namespace="7ea28f75-b447-4008-abb1-f022e6a6148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EventHashCode" minOccurs="0"/>
                <xsd:element ref="ns2:MediaServiceGenerationTime" minOccurs="0"/>
                <xsd:element ref="ns2:MediaServiceAutoKeyPoints" minOccurs="0"/>
                <xsd:element ref="ns2:MediaServiceKeyPoints" minOccurs="0"/>
                <xsd:element ref="ns2:MediaServiceAutoTags" minOccurs="0"/>
                <xsd:element ref="ns2:MediaServiceOCR" minOccurs="0"/>
                <xsd:element ref="ns2:MediaServiceDateTaken" minOccurs="0"/>
                <xsd:element ref="ns2:lcf76f155ced4ddcb4097134ff3c332f" minOccurs="0"/>
                <xsd:element ref="ns3:TaxCatchAll" minOccurs="0"/>
                <xsd:element ref="ns2:MediaServiceObjectDetectorVersions"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3e35d5-149a-42d0-9759-7e4251ca70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f48fd182-3af3-4b45-858c-95346ee1bc1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ea28f75-b447-4008-abb1-f022e6a6148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94c75616-ecdf-4ec9-ad19-abf48ff25f01}" ma:internalName="TaxCatchAll" ma:showField="CatchAllData" ma:web="7ea28f75-b447-4008-abb1-f022e6a6148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13e35d5-149a-42d0-9759-7e4251ca70ae">
      <Terms xmlns="http://schemas.microsoft.com/office/infopath/2007/PartnerControls"/>
    </lcf76f155ced4ddcb4097134ff3c332f>
    <TaxCatchAll xmlns="7ea28f75-b447-4008-abb1-f022e6a61489" xsi:nil="true"/>
    <SharedWithUsers xmlns="7ea28f75-b447-4008-abb1-f022e6a61489">
      <UserInfo>
        <DisplayName/>
        <AccountId xsi:nil="true"/>
        <AccountType/>
      </UserInfo>
    </SharedWithUsers>
  </documentManagement>
</p:properties>
</file>

<file path=customXml/itemProps1.xml><?xml version="1.0" encoding="utf-8"?>
<ds:datastoreItem xmlns:ds="http://schemas.openxmlformats.org/officeDocument/2006/customXml" ds:itemID="{66A3D4E0-8B34-45BE-9C85-9A29645F304D}">
  <ds:schemaRefs>
    <ds:schemaRef ds:uri="http://schemas.microsoft.com/sharepoint/v3/contenttype/forms"/>
  </ds:schemaRefs>
</ds:datastoreItem>
</file>

<file path=customXml/itemProps2.xml><?xml version="1.0" encoding="utf-8"?>
<ds:datastoreItem xmlns:ds="http://schemas.openxmlformats.org/officeDocument/2006/customXml" ds:itemID="{2AA1B0D8-3A16-476F-AD45-439C0D82E81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3e35d5-149a-42d0-9759-7e4251ca70ae"/>
    <ds:schemaRef ds:uri="7ea28f75-b447-4008-abb1-f022e6a6148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0627723-CB92-41F8-998D-0AF0183E84B5}">
  <ds:schemaRefs>
    <ds:schemaRef ds:uri="http://schemas.microsoft.com/office/2006/metadata/properties"/>
    <ds:schemaRef ds:uri="http://schemas.microsoft.com/office/infopath/2007/PartnerControls"/>
    <ds:schemaRef ds:uri="113e35d5-149a-42d0-9759-7e4251ca70ae"/>
    <ds:schemaRef ds:uri="7ea28f75-b447-4008-abb1-f022e6a61489"/>
  </ds:schemaRefs>
</ds:datastoreItem>
</file>

<file path=docProps/app.xml><?xml version="1.0" encoding="utf-8"?>
<Properties xmlns="http://schemas.openxmlformats.org/officeDocument/2006/extended-properties" xmlns:vt="http://schemas.openxmlformats.org/officeDocument/2006/docPropsVTypes">
  <TotalTime>2430</TotalTime>
  <Words>895</Words>
  <Application>Microsoft Office PowerPoint</Application>
  <PresentationFormat>Custom</PresentationFormat>
  <Paragraphs>67</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SimSun</vt:lpstr>
      <vt:lpstr>Aptos</vt:lpstr>
      <vt:lpstr>Arial</vt:lpstr>
      <vt:lpstr>Calibri</vt:lpstr>
      <vt:lpstr>ヒラギノ角ゴ Pro W3</vt:lpstr>
      <vt:lpstr>Office Theme</vt:lpstr>
      <vt:lpstr>PowerPoint Presentation</vt:lpstr>
    </vt:vector>
  </TitlesOfParts>
  <Company>Rutgers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Julia Xia</dc:creator>
  <cp:lastModifiedBy>Aditya Ningaiah</cp:lastModifiedBy>
  <cp:revision>111</cp:revision>
  <cp:lastPrinted>2012-08-01T17:44:46Z</cp:lastPrinted>
  <dcterms:created xsi:type="dcterms:W3CDTF">2014-03-07T20:22:07Z</dcterms:created>
  <dcterms:modified xsi:type="dcterms:W3CDTF">2026-05-01T01:17:52Z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0x010100E102DA1231611544B7633ABC55414EFF</vt:lpwstr>
  </property>
  <property fmtid="{D5CDD505-2E9C-101B-9397-08002B2CF9AE}" pid="3" name="Order">
    <vt:r8>22500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y fmtid="{D5CDD505-2E9C-101B-9397-08002B2CF9AE}" pid="12" name="MediaServiceImageTags">
    <vt:lpwstr/>
  </property>
</Properties>
</file>